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  <p:sldMasterId id="2147483678" r:id="rId2"/>
  </p:sldMasterIdLst>
  <p:notesMasterIdLst>
    <p:notesMasterId r:id="rId27"/>
  </p:notesMasterIdLst>
  <p:sldIdLst>
    <p:sldId id="256" r:id="rId3"/>
    <p:sldId id="257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92" r:id="rId15"/>
    <p:sldId id="287" r:id="rId16"/>
    <p:sldId id="288" r:id="rId17"/>
    <p:sldId id="289" r:id="rId18"/>
    <p:sldId id="290" r:id="rId19"/>
    <p:sldId id="291" r:id="rId20"/>
    <p:sldId id="293" r:id="rId21"/>
    <p:sldId id="294" r:id="rId22"/>
    <p:sldId id="295" r:id="rId23"/>
    <p:sldId id="296" r:id="rId24"/>
    <p:sldId id="297" r:id="rId25"/>
    <p:sldId id="263" r:id="rId26"/>
  </p:sldIdLst>
  <p:sldSz cx="9144000" cy="5143500" type="screen16x9"/>
  <p:notesSz cx="6858000" cy="9144000"/>
  <p:embeddedFontLst>
    <p:embeddedFont>
      <p:font typeface="Catamaran" panose="020B0604020202020204" charset="0"/>
      <p:regular r:id="rId28"/>
      <p:bold r:id="rId29"/>
    </p:embeddedFont>
    <p:embeddedFont>
      <p:font typeface="Tw Cen MT" panose="020B0602020104020603" pitchFamily="34" charset="0"/>
      <p:regular r:id="rId30"/>
      <p:bold r:id="rId31"/>
      <p:italic r:id="rId32"/>
      <p:boldItalic r:id="rId33"/>
    </p:embeddedFont>
    <p:embeddedFont>
      <p:font typeface="Tw Cen MT Condensed" panose="020B0606020104020203" pitchFamily="34" charset="0"/>
      <p:regular r:id="rId34"/>
      <p:bold r:id="rId35"/>
    </p:embeddedFont>
    <p:embeddedFont>
      <p:font typeface="Wingdings 3" panose="050401020108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513"/>
    <a:srgbClr val="000000"/>
    <a:srgbClr val="1482AC"/>
    <a:srgbClr val="6F0A19"/>
    <a:srgbClr val="E9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E9C2CC9-ED9E-DD59-3AE5-83E285F8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CCB0F39D-0B17-5B79-1995-47A988C1F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B5F85830-A4BE-5DE2-5499-571222516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3449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65A804E-0451-7C33-312B-09CBD8F4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596A1030-D9E4-2AB5-E211-0E33E289B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18A73684-9264-2FA4-4166-B3D619153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925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C9B03D8-BFAF-35CD-7BD8-A7C18BBA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9B167DE2-28AC-4473-5C99-EE0C3464A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C74EA092-3468-94A3-4BB3-822BFF850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5226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715B733-6018-7363-908E-BED7A118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0C0E020F-ADC8-33C6-D869-8565DF46C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A8544A4D-0775-3800-26E7-FC9901F7A6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009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F10A66D7-2E6D-753D-1F22-11E9572F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DD412342-7819-9D23-2425-9BE79C7F3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F94CABDE-C0F3-010E-B8DD-8475FA265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591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C8C67F80-C3BB-C2C8-E541-ABC2FCD3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6A35A1E9-D52A-B3FB-E80A-59C8F1C71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BA3A2752-4FAB-EF6C-1065-DF37234E3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2064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0CF03C6-266F-E82D-2F7F-087C6EB7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34AEBAE9-7EE9-7899-4D2B-46A74A4598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EE8D4813-B890-6B50-3DA2-731AD8A6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36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5B4EB9BE-73C4-CF27-22EE-49DEB327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08A60371-62E6-7453-3DEB-C4ADFC427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CEDBAA71-688C-1078-A7B4-9BDC54A80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3118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5EF3B14-4C70-458D-FF31-92C20B02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C1AB8567-A884-F8D8-909A-7541C015B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306F0E77-D15C-8303-5836-C620A5ACD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8975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67EA9E33-3746-7973-A006-35679CEC6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10A9BE00-076C-F8A6-BFAB-6F8A9D0D6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BA7C1BBB-3F5F-D3DF-1ADA-259561338D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2654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387BBCD-B29C-7533-0F9D-172C4EB3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3FDE564A-0592-2161-E110-5CE773F6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C1420EF2-7D72-A6D0-E1AA-8C7E27833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422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AD0C9E10-1A32-6821-4D3F-DAD2E38D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3599BD21-A5D7-F67F-9679-9ECE6A9E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04BD86D5-E740-472E-A350-DDDF6C28E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100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E65007DF-7955-81D5-B64D-C033C51A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D2123A53-F851-D7AE-4FCF-6748FD431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45515952-3052-2D26-03E6-525DA0A34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157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B7F569D9-8C09-2219-BD20-C635E309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2834C21C-3B1C-7F22-22B7-64FFD77617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E882E270-5A61-25B2-ED57-E8105E36B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883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588E11AB-CEF7-706D-B393-72D00F85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60D5F0CC-373F-15CD-346E-D0BC7E879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4BA38839-93FB-B381-4657-9147022A06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6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59A140A8-527D-E405-904F-D4D95CFC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16F08DFF-55EA-E717-FBBC-1054B9034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431D4D3D-906C-04B0-908B-253E69B4B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3866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32D8B030-745C-34A4-737B-8CB9BA40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53C08421-9D79-6637-8FC8-182B6380D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84BE2A83-90C0-D936-6579-04C3BA45A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480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908E9619-6689-82C8-771B-58321583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112AB624-EF6B-69AA-B029-2F5CEFFFE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D98FC870-25A4-3534-DAFD-9ADA8367A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4086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CA5CEE8-A622-6E46-2FD2-15CF3C51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108B5AB8-755D-B6B1-7F70-EBE2DCD75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39121ED7-9BEC-EB96-096D-FA8F5777C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0637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1D866E90-075D-6AD3-F6BC-154EE4F2F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E2AB76B7-3B12-5279-0DA1-3E9522C5E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EA502946-8D42-3F87-AB44-20B43376F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7509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2F866347-D00B-C2AE-143C-E7303254E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df644b60b_0_14:notes">
            <a:extLst>
              <a:ext uri="{FF2B5EF4-FFF2-40B4-BE49-F238E27FC236}">
                <a16:creationId xmlns:a16="http://schemas.microsoft.com/office/drawing/2014/main" id="{722E8AFF-E795-AB89-204B-D58632A955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df644b60b_0_14:notes">
            <a:extLst>
              <a:ext uri="{FF2B5EF4-FFF2-40B4-BE49-F238E27FC236}">
                <a16:creationId xmlns:a16="http://schemas.microsoft.com/office/drawing/2014/main" id="{BFA60FFA-A9A9-91EA-5236-772230880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141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5670f63ae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5670f63ae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93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023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9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145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565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939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319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6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62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124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321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640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339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864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6307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88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166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6168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3478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9048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43843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5454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79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02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Capitolo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‹N›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18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hd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ctrTitle"/>
          </p:nvPr>
        </p:nvSpPr>
        <p:spPr>
          <a:xfrm>
            <a:off x="0" y="3720103"/>
            <a:ext cx="6291072" cy="109728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3200" dirty="0" err="1">
                <a:solidFill>
                  <a:srgbClr val="B53513"/>
                </a:solidFill>
              </a:rPr>
              <a:t>Laboratory</a:t>
            </a:r>
            <a:r>
              <a:rPr lang="it-IT" sz="3200" dirty="0">
                <a:solidFill>
                  <a:srgbClr val="B53513"/>
                </a:solidFill>
              </a:rPr>
              <a:t> of </a:t>
            </a:r>
            <a:r>
              <a:rPr lang="it-IT" sz="3200" dirty="0" err="1">
                <a:solidFill>
                  <a:srgbClr val="B53513"/>
                </a:solidFill>
              </a:rPr>
              <a:t>advanced</a:t>
            </a:r>
            <a:r>
              <a:rPr lang="it-IT" sz="3200" dirty="0">
                <a:solidFill>
                  <a:srgbClr val="B53513"/>
                </a:solidFill>
              </a:rPr>
              <a:t> programming: MARS AUTOMATION PLATFORM</a:t>
            </a:r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Dan </a:t>
            </a:r>
            <a:r>
              <a:rPr lang="it-IT" dirty="0" err="1"/>
              <a:t>Razin</a:t>
            </a:r>
            <a:r>
              <a:rPr lang="it-IT" dirty="0"/>
              <a:t> - 2065165</a:t>
            </a:r>
          </a:p>
          <a:p>
            <a:pPr lvl="0"/>
            <a:r>
              <a:rPr lang="it-IT" dirty="0"/>
              <a:t>Beatrice Gambetti - 2063585 </a:t>
            </a:r>
          </a:p>
          <a:p>
            <a:pPr lvl="0"/>
            <a:r>
              <a:rPr lang="it-IT" dirty="0"/>
              <a:t>Matteo Ciula – 2065405</a:t>
            </a:r>
          </a:p>
          <a:p>
            <a:pPr lvl="0"/>
            <a:r>
              <a:rPr lang="it-IT" dirty="0"/>
              <a:t>Andrea </a:t>
            </a:r>
            <a:r>
              <a:rPr lang="it-IT" dirty="0" err="1"/>
              <a:t>Piermartini</a:t>
            </a:r>
            <a:r>
              <a:rPr lang="it-IT" dirty="0"/>
              <a:t> - 2046607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D800B4-94B7-0C5A-79D3-2615AB97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2</a:t>
            </a:fld>
            <a:endParaRPr lang="it"/>
          </a:p>
        </p:txBody>
      </p:sp>
      <p:sp>
        <p:nvSpPr>
          <p:cNvPr id="8" name="Google Shape;112;p11">
            <a:extLst>
              <a:ext uri="{FF2B5EF4-FFF2-40B4-BE49-F238E27FC236}">
                <a16:creationId xmlns:a16="http://schemas.microsoft.com/office/drawing/2014/main" id="{EAFDE66B-1FF2-D0D8-6013-A6C5815C41E2}"/>
              </a:ext>
            </a:extLst>
          </p:cNvPr>
          <p:cNvSpPr txBox="1"/>
          <p:nvPr/>
        </p:nvSpPr>
        <p:spPr>
          <a:xfrm>
            <a:off x="727650" y="861800"/>
            <a:ext cx="205619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600" b="1" dirty="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Introduzione</a:t>
            </a:r>
            <a:endParaRPr sz="2600" b="1" dirty="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7E951C-A375-7A18-8CEF-6D0D3F148483}"/>
              </a:ext>
            </a:extLst>
          </p:cNvPr>
          <p:cNvSpPr txBox="1"/>
          <p:nvPr/>
        </p:nvSpPr>
        <p:spPr>
          <a:xfrm>
            <a:off x="612810" y="752172"/>
            <a:ext cx="7918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GOAL: </a:t>
            </a:r>
            <a:r>
              <a:rPr lang="it-IT" dirty="0" err="1">
                <a:solidFill>
                  <a:schemeClr val="bg1"/>
                </a:solidFill>
              </a:rPr>
              <a:t>developing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robust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distributed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infrastructure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manage</a:t>
            </a:r>
            <a:r>
              <a:rPr lang="it-IT" dirty="0">
                <a:solidFill>
                  <a:schemeClr val="bg1"/>
                </a:solidFill>
              </a:rPr>
              <a:t> life-support and </a:t>
            </a:r>
            <a:r>
              <a:rPr lang="it-IT" dirty="0" err="1">
                <a:solidFill>
                  <a:schemeClr val="bg1"/>
                </a:solidFill>
              </a:rPr>
              <a:t>enviromental</a:t>
            </a:r>
            <a:r>
              <a:rPr lang="it-IT" dirty="0">
                <a:solidFill>
                  <a:schemeClr val="bg1"/>
                </a:solidFill>
              </a:rPr>
              <a:t> systems of a </a:t>
            </a:r>
            <a:r>
              <a:rPr lang="it-IT" dirty="0" err="1">
                <a:solidFill>
                  <a:schemeClr val="bg1"/>
                </a:solidFill>
              </a:rPr>
              <a:t>Martian</a:t>
            </a:r>
            <a:r>
              <a:rPr lang="it-IT" dirty="0">
                <a:solidFill>
                  <a:schemeClr val="bg1"/>
                </a:solidFill>
              </a:rPr>
              <a:t> habitat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77BCEC5-7413-9EB6-2611-062FE8613381}"/>
              </a:ext>
            </a:extLst>
          </p:cNvPr>
          <p:cNvSpPr txBox="1"/>
          <p:nvPr/>
        </p:nvSpPr>
        <p:spPr>
          <a:xfrm>
            <a:off x="195072" y="1914144"/>
            <a:ext cx="8546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CHALLENGE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Heterogeneous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environment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sensors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speak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different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languages</a:t>
            </a:r>
            <a:r>
              <a:rPr lang="it-IT" dirty="0">
                <a:solidFill>
                  <a:schemeClr val="bg1"/>
                </a:solidFill>
              </a:rPr>
              <a:t> (REST; </a:t>
            </a:r>
            <a:r>
              <a:rPr lang="it-IT" dirty="0" err="1">
                <a:solidFill>
                  <a:schemeClr val="bg1"/>
                </a:solidFill>
              </a:rPr>
              <a:t>WebSockets</a:t>
            </a:r>
            <a:r>
              <a:rPr lang="it-IT" dirty="0">
                <a:solidFill>
                  <a:schemeClr val="bg1"/>
                </a:solidFill>
              </a:rPr>
              <a:t>, SSE)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Partial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destruction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there’s</a:t>
            </a:r>
            <a:r>
              <a:rPr lang="it-IT" dirty="0">
                <a:solidFill>
                  <a:schemeClr val="bg1"/>
                </a:solidFill>
              </a:rPr>
              <a:t> no </a:t>
            </a:r>
            <a:r>
              <a:rPr lang="it-IT" dirty="0" err="1">
                <a:solidFill>
                  <a:schemeClr val="bg1"/>
                </a:solidFill>
              </a:rPr>
              <a:t>automation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but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manual</a:t>
            </a:r>
            <a:r>
              <a:rPr lang="it-IT" dirty="0">
                <a:solidFill>
                  <a:schemeClr val="bg1"/>
                </a:solidFill>
              </a:rPr>
              <a:t> monitoring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impossibile for a 24/7 </a:t>
            </a:r>
            <a:r>
              <a:rPr lang="it-IT" dirty="0" err="1">
                <a:solidFill>
                  <a:schemeClr val="bg1"/>
                </a:solidFill>
              </a:rPr>
              <a:t>colony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High </a:t>
            </a:r>
            <a:r>
              <a:rPr lang="it-IT" dirty="0" err="1">
                <a:solidFill>
                  <a:schemeClr val="bg1"/>
                </a:solidFill>
              </a:rPr>
              <a:t>stakes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thermodynamic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failure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equals</a:t>
            </a:r>
            <a:r>
              <a:rPr lang="it-IT" dirty="0">
                <a:solidFill>
                  <a:schemeClr val="bg1"/>
                </a:solidFill>
              </a:rPr>
              <a:t> mission end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19A5011-7FB5-2BD3-81B1-A71F2B06F2C6}"/>
              </a:ext>
            </a:extLst>
          </p:cNvPr>
          <p:cNvSpPr txBox="1"/>
          <p:nvPr/>
        </p:nvSpPr>
        <p:spPr>
          <a:xfrm>
            <a:off x="195072" y="3385395"/>
            <a:ext cx="8546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SOLUTION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 </a:t>
            </a:r>
            <a:r>
              <a:rPr lang="it-IT" dirty="0" err="1">
                <a:solidFill>
                  <a:schemeClr val="bg1"/>
                </a:solidFill>
              </a:rPr>
              <a:t>distributed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microservices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platform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built</a:t>
            </a:r>
            <a:r>
              <a:rPr lang="it-IT" dirty="0">
                <a:solidFill>
                  <a:schemeClr val="bg1"/>
                </a:solidFill>
              </a:rPr>
              <a:t> on Python and </a:t>
            </a:r>
            <a:r>
              <a:rPr lang="it-IT" dirty="0" err="1">
                <a:solidFill>
                  <a:schemeClr val="bg1"/>
                </a:solidFill>
              </a:rPr>
              <a:t>Kakfa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Real-time </a:t>
            </a:r>
            <a:r>
              <a:rPr lang="it-IT" dirty="0" err="1">
                <a:solidFill>
                  <a:schemeClr val="bg1"/>
                </a:solidFill>
              </a:rPr>
              <a:t>normalization</a:t>
            </a:r>
            <a:r>
              <a:rPr lang="it-IT" dirty="0">
                <a:solidFill>
                  <a:schemeClr val="bg1"/>
                </a:solidFill>
              </a:rPr>
              <a:t> of </a:t>
            </a:r>
            <a:r>
              <a:rPr lang="it-IT" dirty="0" err="1">
                <a:solidFill>
                  <a:schemeClr val="bg1"/>
                </a:solidFill>
              </a:rPr>
              <a:t>all</a:t>
            </a:r>
            <a:r>
              <a:rPr lang="it-IT" dirty="0">
                <a:solidFill>
                  <a:schemeClr val="bg1"/>
                </a:solidFill>
              </a:rPr>
              <a:t> the data </a:t>
            </a:r>
            <a:r>
              <a:rPr lang="it-IT" dirty="0" err="1">
                <a:solidFill>
                  <a:schemeClr val="bg1"/>
                </a:solidFill>
              </a:rPr>
              <a:t>into</a:t>
            </a:r>
            <a:r>
              <a:rPr lang="it-IT" dirty="0">
                <a:solidFill>
                  <a:schemeClr val="bg1"/>
                </a:solidFill>
              </a:rPr>
              <a:t> a single </a:t>
            </a:r>
            <a:r>
              <a:rPr lang="it-IT" dirty="0" err="1">
                <a:solidFill>
                  <a:schemeClr val="bg1"/>
                </a:solidFill>
              </a:rPr>
              <a:t>internal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language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Dynamic rule </a:t>
            </a:r>
            <a:r>
              <a:rPr lang="it-IT" dirty="0" err="1">
                <a:solidFill>
                  <a:schemeClr val="bg1"/>
                </a:solidFill>
              </a:rPr>
              <a:t>engine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ensure</a:t>
            </a:r>
            <a:r>
              <a:rPr lang="it-IT" dirty="0">
                <a:solidFill>
                  <a:schemeClr val="bg1"/>
                </a:solidFill>
              </a:rPr>
              <a:t> the habitat </a:t>
            </a:r>
            <a:r>
              <a:rPr lang="it-IT" dirty="0" err="1">
                <a:solidFill>
                  <a:schemeClr val="bg1"/>
                </a:solidFill>
              </a:rPr>
              <a:t>react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automatically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environmental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threats</a:t>
            </a:r>
            <a:endParaRPr lang="it-IT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5EE5CE2A-50D6-AB18-4831-5303FB43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A8022B5B-28C5-CF6E-5695-65EE767480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3CC1AA9-4E9D-18F3-BB99-5533C17C4656}"/>
              </a:ext>
            </a:extLst>
          </p:cNvPr>
          <p:cNvSpPr txBox="1"/>
          <p:nvPr/>
        </p:nvSpPr>
        <p:spPr>
          <a:xfrm>
            <a:off x="170688" y="126527"/>
            <a:ext cx="4218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USER STORIES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55CD7E2-6BBE-D616-0EC1-C4D6A939464B}"/>
              </a:ext>
            </a:extLst>
          </p:cNvPr>
          <p:cNvSpPr txBox="1"/>
          <p:nvPr/>
        </p:nvSpPr>
        <p:spPr>
          <a:xfrm>
            <a:off x="114843" y="545446"/>
            <a:ext cx="89143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1) As an operator , I want to select a sensor, an operator and a value to define an automation trigger.</a:t>
            </a:r>
          </a:p>
          <a:p>
            <a:r>
              <a:rPr lang="en-US" dirty="0">
                <a:solidFill>
                  <a:schemeClr val="bg1"/>
                </a:solidFill>
              </a:rPr>
              <a:t>2) As an operator , I want to link an actuator to a rule so that the system reacts automatically.</a:t>
            </a:r>
          </a:p>
          <a:p>
            <a:r>
              <a:rPr lang="en-US" dirty="0">
                <a:solidFill>
                  <a:schemeClr val="bg1"/>
                </a:solidFill>
              </a:rPr>
              <a:t>3) As a supervisor , I want to see all configured rules in a dedicated list.</a:t>
            </a:r>
          </a:p>
          <a:p>
            <a:r>
              <a:rPr lang="en-US" dirty="0">
                <a:solidFill>
                  <a:schemeClr val="bg1"/>
                </a:solidFill>
              </a:rPr>
              <a:t>4) As a system admin , I want the UI to prevent contradictory automation rules.</a:t>
            </a:r>
          </a:p>
          <a:p>
            <a:r>
              <a:rPr lang="en-US" dirty="0">
                <a:solidFill>
                  <a:schemeClr val="bg1"/>
                </a:solidFill>
              </a:rPr>
              <a:t>5) As an energy engineer , I want to view the Solar Array Power graph.</a:t>
            </a:r>
          </a:p>
          <a:p>
            <a:r>
              <a:rPr lang="en-US" dirty="0">
                <a:solidFill>
                  <a:schemeClr val="bg1"/>
                </a:solidFill>
              </a:rPr>
              <a:t>6) As a safety officer , I want to monitor Radiation Exposure trends.</a:t>
            </a:r>
          </a:p>
          <a:p>
            <a:r>
              <a:rPr lang="en-US" dirty="0">
                <a:solidFill>
                  <a:schemeClr val="bg1"/>
                </a:solidFill>
              </a:rPr>
              <a:t>7) As a user , I want LIVE indicators on charts to verify active streams.</a:t>
            </a:r>
          </a:p>
          <a:p>
            <a:r>
              <a:rPr lang="en-US" dirty="0">
                <a:solidFill>
                  <a:schemeClr val="bg1"/>
                </a:solidFill>
              </a:rPr>
              <a:t>8) As a botanist , I want sensor progress bars to change color when values become dangerous.</a:t>
            </a:r>
          </a:p>
          <a:p>
            <a:r>
              <a:rPr lang="en-US" dirty="0">
                <a:solidFill>
                  <a:schemeClr val="bg1"/>
                </a:solidFill>
              </a:rPr>
              <a:t>9) As a colonist , I want to see the greenhouse temperature in Celsius.</a:t>
            </a:r>
          </a:p>
          <a:p>
            <a:r>
              <a:rPr lang="en-US" dirty="0">
                <a:solidFill>
                  <a:schemeClr val="bg1"/>
                </a:solidFill>
              </a:rPr>
              <a:t>10) As a maintenance worker , I want to track entrance humidity levels.</a:t>
            </a:r>
          </a:p>
          <a:p>
            <a:r>
              <a:rPr lang="en-US" dirty="0">
                <a:solidFill>
                  <a:schemeClr val="bg1"/>
                </a:solidFill>
              </a:rPr>
              <a:t>11) As a life-support specialist , I want to monitor hall CO₂ concentration.</a:t>
            </a:r>
          </a:p>
          <a:p>
            <a:r>
              <a:rPr lang="en-US" dirty="0">
                <a:solidFill>
                  <a:schemeClr val="bg1"/>
                </a:solidFill>
              </a:rPr>
              <a:t>12) As an operator , I want to manually toggle actuators ON/OFF.</a:t>
            </a:r>
          </a:p>
          <a:p>
            <a:r>
              <a:rPr lang="en-US" dirty="0">
                <a:solidFill>
                  <a:schemeClr val="bg1"/>
                </a:solidFill>
              </a:rPr>
              <a:t>13) As a technician , I want to clearly see actuator states.</a:t>
            </a:r>
          </a:p>
          <a:p>
            <a:r>
              <a:rPr lang="en-US" dirty="0">
                <a:solidFill>
                  <a:schemeClr val="bg1"/>
                </a:solidFill>
              </a:rPr>
              <a:t>14) As a developer , I want newly discovered actuators to appear automatically in the UI.</a:t>
            </a:r>
          </a:p>
          <a:p>
            <a:r>
              <a:rPr lang="en-US" dirty="0">
                <a:solidFill>
                  <a:schemeClr val="bg1"/>
                </a:solidFill>
              </a:rPr>
              <a:t>15) As a crew member , I want to see the current SOL and Mars Local Time.</a:t>
            </a:r>
          </a:p>
          <a:p>
            <a:r>
              <a:rPr lang="en-US" dirty="0">
                <a:solidFill>
                  <a:schemeClr val="bg1"/>
                </a:solidFill>
              </a:rPr>
              <a:t>16) As a network admin , I want a broker connection indicator.</a:t>
            </a:r>
          </a:p>
          <a:p>
            <a:r>
              <a:rPr lang="en-US" dirty="0">
                <a:solidFill>
                  <a:schemeClr val="bg1"/>
                </a:solidFill>
              </a:rPr>
              <a:t>17) As a developer , I want a simulator health indicator.</a:t>
            </a:r>
          </a:p>
          <a:p>
            <a:r>
              <a:rPr lang="en-US" dirty="0">
                <a:solidFill>
                  <a:schemeClr val="bg1"/>
                </a:solidFill>
              </a:rPr>
              <a:t>18) As a supervisor , I want all system actions recorded in an event log.</a:t>
            </a:r>
          </a:p>
          <a:p>
            <a:r>
              <a:rPr lang="en-US" dirty="0">
                <a:solidFill>
                  <a:schemeClr val="bg1"/>
                </a:solidFill>
              </a:rPr>
              <a:t>19) As a user , I want color-coded log entries to quickly identify issues.</a:t>
            </a:r>
          </a:p>
          <a:p>
            <a:r>
              <a:rPr lang="en-US" dirty="0">
                <a:solidFill>
                  <a:schemeClr val="bg1"/>
                </a:solidFill>
              </a:rPr>
              <a:t>20) As a data analyst , I want each log entry to include a precise timestamp.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87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73C0D8B8-D60A-2EE7-2BA2-50391590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96C7CD1A-2BFA-DE1D-C4A6-74047F41D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7BB3385-D967-8B6A-A95B-8A643EFFDB5C}"/>
              </a:ext>
            </a:extLst>
          </p:cNvPr>
          <p:cNvSpPr txBox="1"/>
          <p:nvPr/>
        </p:nvSpPr>
        <p:spPr>
          <a:xfrm>
            <a:off x="231648" y="341376"/>
            <a:ext cx="4925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The operator: </a:t>
            </a:r>
            <a:r>
              <a:rPr lang="it-IT" dirty="0" err="1">
                <a:solidFill>
                  <a:schemeClr val="bg1"/>
                </a:solidFill>
              </a:rPr>
              <a:t>needs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define</a:t>
            </a:r>
            <a:r>
              <a:rPr lang="it-IT" dirty="0">
                <a:solidFill>
                  <a:schemeClr val="bg1"/>
                </a:solidFill>
              </a:rPr>
              <a:t> «IF-THEN» triggers and </a:t>
            </a:r>
            <a:r>
              <a:rPr lang="it-IT" dirty="0" err="1">
                <a:solidFill>
                  <a:schemeClr val="bg1"/>
                </a:solidFill>
              </a:rPr>
              <a:t>toggle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actuators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Fans,Heaters</a:t>
            </a:r>
            <a:r>
              <a:rPr lang="it-IT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The </a:t>
            </a:r>
            <a:r>
              <a:rPr lang="it-IT" dirty="0" err="1">
                <a:solidFill>
                  <a:schemeClr val="bg1"/>
                </a:solidFill>
              </a:rPr>
              <a:t>specialist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botanist</a:t>
            </a:r>
            <a:r>
              <a:rPr lang="it-IT" dirty="0">
                <a:solidFill>
                  <a:schemeClr val="bg1"/>
                </a:solidFill>
              </a:rPr>
              <a:t>/</a:t>
            </a:r>
            <a:r>
              <a:rPr lang="it-IT" dirty="0" err="1">
                <a:solidFill>
                  <a:schemeClr val="bg1"/>
                </a:solidFill>
              </a:rPr>
              <a:t>engineer</a:t>
            </a:r>
            <a:r>
              <a:rPr lang="it-IT" dirty="0">
                <a:solidFill>
                  <a:schemeClr val="bg1"/>
                </a:solidFill>
              </a:rPr>
              <a:t>): </a:t>
            </a:r>
            <a:r>
              <a:rPr lang="it-IT" dirty="0" err="1">
                <a:solidFill>
                  <a:schemeClr val="bg1"/>
                </a:solidFill>
              </a:rPr>
              <a:t>requires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specific</a:t>
            </a:r>
            <a:r>
              <a:rPr lang="it-IT" dirty="0">
                <a:solidFill>
                  <a:schemeClr val="bg1"/>
                </a:solidFill>
              </a:rPr>
              <a:t> monitoring for </a:t>
            </a:r>
            <a:r>
              <a:rPr lang="it-IT" dirty="0" err="1">
                <a:solidFill>
                  <a:schemeClr val="bg1"/>
                </a:solidFill>
              </a:rPr>
              <a:t>Greenhous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temp</a:t>
            </a:r>
            <a:r>
              <a:rPr lang="it-IT" dirty="0">
                <a:solidFill>
                  <a:schemeClr val="bg1"/>
                </a:solidFill>
              </a:rPr>
              <a:t>, solar array and </a:t>
            </a:r>
            <a:r>
              <a:rPr lang="it-IT" dirty="0" err="1">
                <a:solidFill>
                  <a:schemeClr val="bg1"/>
                </a:solidFill>
              </a:rPr>
              <a:t>radiation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The system admin: </a:t>
            </a:r>
            <a:r>
              <a:rPr lang="it-IT" dirty="0" err="1">
                <a:solidFill>
                  <a:schemeClr val="bg1"/>
                </a:solidFill>
              </a:rPr>
              <a:t>Needs</a:t>
            </a:r>
            <a:r>
              <a:rPr lang="it-IT" dirty="0">
                <a:solidFill>
                  <a:schemeClr val="bg1"/>
                </a:solidFill>
              </a:rPr>
              <a:t> to monitor the «Health» of the </a:t>
            </a:r>
            <a:r>
              <a:rPr lang="it-IT" dirty="0" err="1">
                <a:solidFill>
                  <a:schemeClr val="bg1"/>
                </a:solidFill>
              </a:rPr>
              <a:t>infrastructure</a:t>
            </a:r>
            <a:r>
              <a:rPr lang="it-IT" dirty="0">
                <a:solidFill>
                  <a:schemeClr val="bg1"/>
                </a:solidFill>
              </a:rPr>
              <a:t> (broker status, simulator </a:t>
            </a:r>
            <a:r>
              <a:rPr lang="it-IT" dirty="0" err="1">
                <a:solidFill>
                  <a:schemeClr val="bg1"/>
                </a:solidFill>
              </a:rPr>
              <a:t>connectivity</a:t>
            </a:r>
            <a:r>
              <a:rPr lang="it-IT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The crew </a:t>
            </a:r>
            <a:r>
              <a:rPr lang="it-IT" dirty="0" err="1">
                <a:solidFill>
                  <a:schemeClr val="bg1"/>
                </a:solidFill>
              </a:rPr>
              <a:t>member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needs</a:t>
            </a:r>
            <a:r>
              <a:rPr lang="it-IT" dirty="0">
                <a:solidFill>
                  <a:schemeClr val="bg1"/>
                </a:solidFill>
              </a:rPr>
              <a:t> high-</a:t>
            </a:r>
            <a:r>
              <a:rPr lang="it-IT" dirty="0" err="1">
                <a:solidFill>
                  <a:schemeClr val="bg1"/>
                </a:solidFill>
              </a:rPr>
              <a:t>level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situational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awareness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mars</a:t>
            </a:r>
            <a:r>
              <a:rPr lang="it-IT" dirty="0">
                <a:solidFill>
                  <a:schemeClr val="bg1"/>
                </a:solidFill>
              </a:rPr>
              <a:t> time, SOL, event logs)</a:t>
            </a:r>
          </a:p>
        </p:txBody>
      </p:sp>
    </p:spTree>
    <p:extLst>
      <p:ext uri="{BB962C8B-B14F-4D97-AF65-F5344CB8AC3E}">
        <p14:creationId xmlns:p14="http://schemas.microsoft.com/office/powerpoint/2010/main" val="200585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D10549C4-48DE-F512-979B-160605816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F6A073A4-610D-222C-30C3-D4702F6FDE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F88A348-FEF9-65CB-BF49-9B3487F49C22}"/>
              </a:ext>
            </a:extLst>
          </p:cNvPr>
          <p:cNvSpPr txBox="1"/>
          <p:nvPr/>
        </p:nvSpPr>
        <p:spPr>
          <a:xfrm>
            <a:off x="4937760" y="707136"/>
            <a:ext cx="3267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Ingestion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layer</a:t>
            </a:r>
            <a:r>
              <a:rPr lang="it-IT" dirty="0">
                <a:solidFill>
                  <a:schemeClr val="bg1"/>
                </a:solidFill>
              </a:rPr>
              <a:t>: (</a:t>
            </a:r>
            <a:r>
              <a:rPr lang="it-IT" dirty="0" err="1">
                <a:solidFill>
                  <a:schemeClr val="bg1"/>
                </a:solidFill>
              </a:rPr>
              <a:t>collectors</a:t>
            </a:r>
            <a:r>
              <a:rPr lang="it-IT" dirty="0">
                <a:solidFill>
                  <a:schemeClr val="bg1"/>
                </a:solidFill>
              </a:rPr>
              <a:t>) polling REST </a:t>
            </a:r>
            <a:r>
              <a:rPr lang="it-IT" dirty="0" err="1">
                <a:solidFill>
                  <a:schemeClr val="bg1"/>
                </a:solidFill>
              </a:rPr>
              <a:t>sensors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subscribing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Telemetry</a:t>
            </a:r>
            <a:r>
              <a:rPr lang="it-IT" dirty="0">
                <a:solidFill>
                  <a:schemeClr val="bg1"/>
                </a:solidFill>
              </a:rPr>
              <a:t> streams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Messaging </a:t>
            </a:r>
            <a:r>
              <a:rPr lang="it-IT" dirty="0" err="1">
                <a:solidFill>
                  <a:schemeClr val="bg1"/>
                </a:solidFill>
              </a:rPr>
              <a:t>layer</a:t>
            </a:r>
            <a:r>
              <a:rPr lang="it-IT" dirty="0">
                <a:solidFill>
                  <a:schemeClr val="bg1"/>
                </a:solidFill>
              </a:rPr>
              <a:t>: (Kafka broker) the </a:t>
            </a:r>
            <a:r>
              <a:rPr lang="it-IT" dirty="0" err="1">
                <a:solidFill>
                  <a:schemeClr val="bg1"/>
                </a:solidFill>
              </a:rPr>
              <a:t>central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nervous</a:t>
            </a:r>
            <a:r>
              <a:rPr lang="it-IT" dirty="0">
                <a:solidFill>
                  <a:schemeClr val="bg1"/>
                </a:solidFill>
              </a:rPr>
              <a:t> system for </a:t>
            </a:r>
            <a:r>
              <a:rPr lang="it-IT" dirty="0" err="1">
                <a:solidFill>
                  <a:schemeClr val="bg1"/>
                </a:solidFill>
              </a:rPr>
              <a:t>asynchronous</a:t>
            </a:r>
            <a:r>
              <a:rPr lang="it-IT" dirty="0">
                <a:solidFill>
                  <a:schemeClr val="bg1"/>
                </a:solidFill>
              </a:rPr>
              <a:t> event </a:t>
            </a:r>
            <a:r>
              <a:rPr lang="it-IT" dirty="0" err="1">
                <a:solidFill>
                  <a:schemeClr val="bg1"/>
                </a:solidFill>
              </a:rPr>
              <a:t>distribution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Processing </a:t>
            </a:r>
            <a:r>
              <a:rPr lang="it-IT" dirty="0" err="1">
                <a:solidFill>
                  <a:schemeClr val="bg1"/>
                </a:solidFill>
              </a:rPr>
              <a:t>layer</a:t>
            </a:r>
            <a:r>
              <a:rPr lang="it-IT" dirty="0">
                <a:solidFill>
                  <a:schemeClr val="bg1"/>
                </a:solidFill>
              </a:rPr>
              <a:t>: (rules </a:t>
            </a:r>
            <a:r>
              <a:rPr lang="it-IT" dirty="0" err="1">
                <a:solidFill>
                  <a:schemeClr val="bg1"/>
                </a:solidFill>
              </a:rPr>
              <a:t>engine</a:t>
            </a:r>
            <a:r>
              <a:rPr lang="it-IT" dirty="0">
                <a:solidFill>
                  <a:schemeClr val="bg1"/>
                </a:solidFill>
              </a:rPr>
              <a:t>) </a:t>
            </a:r>
            <a:r>
              <a:rPr lang="it-IT" dirty="0" err="1">
                <a:solidFill>
                  <a:schemeClr val="bg1"/>
                </a:solidFill>
              </a:rPr>
              <a:t>evaluates</a:t>
            </a:r>
            <a:r>
              <a:rPr lang="it-IT" dirty="0">
                <a:solidFill>
                  <a:schemeClr val="bg1"/>
                </a:solidFill>
              </a:rPr>
              <a:t> incoming data </a:t>
            </a:r>
            <a:r>
              <a:rPr lang="it-IT" dirty="0" err="1">
                <a:solidFill>
                  <a:schemeClr val="bg1"/>
                </a:solidFill>
              </a:rPr>
              <a:t>against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persistent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SQLite</a:t>
            </a:r>
            <a:r>
              <a:rPr lang="it-IT" dirty="0">
                <a:solidFill>
                  <a:schemeClr val="bg1"/>
                </a:solidFill>
              </a:rPr>
              <a:t> database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Presentation Layer: (</a:t>
            </a:r>
            <a:r>
              <a:rPr lang="it-IT" dirty="0" err="1">
                <a:solidFill>
                  <a:schemeClr val="bg1"/>
                </a:solidFill>
              </a:rPr>
              <a:t>react</a:t>
            </a:r>
            <a:r>
              <a:rPr lang="it-IT" dirty="0">
                <a:solidFill>
                  <a:schemeClr val="bg1"/>
                </a:solidFill>
              </a:rPr>
              <a:t>/Vite dashboard) real-time </a:t>
            </a:r>
            <a:r>
              <a:rPr lang="it-IT" dirty="0" err="1">
                <a:solidFill>
                  <a:schemeClr val="bg1"/>
                </a:solidFill>
              </a:rPr>
              <a:t>visualization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command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interface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0C576CD-2974-8EB8-2DB1-AB4002BA1F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30"/>
          <a:stretch>
            <a:fillRect/>
          </a:stretch>
        </p:blipFill>
        <p:spPr>
          <a:xfrm>
            <a:off x="121920" y="540425"/>
            <a:ext cx="4575048" cy="4047744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32CB0D8-7706-2589-EC17-345BA2635627}"/>
              </a:ext>
            </a:extLst>
          </p:cNvPr>
          <p:cNvSpPr txBox="1"/>
          <p:nvPr/>
        </p:nvSpPr>
        <p:spPr>
          <a:xfrm>
            <a:off x="237744" y="115824"/>
            <a:ext cx="326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«DATA LIFE CYCLE»</a:t>
            </a:r>
          </a:p>
        </p:txBody>
      </p:sp>
    </p:spTree>
    <p:extLst>
      <p:ext uri="{BB962C8B-B14F-4D97-AF65-F5344CB8AC3E}">
        <p14:creationId xmlns:p14="http://schemas.microsoft.com/office/powerpoint/2010/main" val="169044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15F32207-956E-2EF2-7BC1-4C0A1BFC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6A7CF3A2-FF53-697D-473D-C100B3576F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0C36D2D-BE18-9E02-9102-B87F1B345910}"/>
              </a:ext>
            </a:extLst>
          </p:cNvPr>
          <p:cNvSpPr txBox="1"/>
          <p:nvPr/>
        </p:nvSpPr>
        <p:spPr>
          <a:xfrm>
            <a:off x="237744" y="548640"/>
            <a:ext cx="8479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To </a:t>
            </a:r>
            <a:r>
              <a:rPr lang="it-IT" dirty="0" err="1">
                <a:solidFill>
                  <a:schemeClr val="bg1"/>
                </a:solidFill>
              </a:rPr>
              <a:t>decouple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sensors</a:t>
            </a:r>
            <a:r>
              <a:rPr lang="it-IT" dirty="0">
                <a:solidFill>
                  <a:schemeClr val="bg1"/>
                </a:solidFill>
              </a:rPr>
              <a:t> from the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normalize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every</a:t>
            </a:r>
            <a:r>
              <a:rPr lang="it-IT" dirty="0">
                <a:solidFill>
                  <a:schemeClr val="bg1"/>
                </a:solidFill>
              </a:rPr>
              <a:t> reading </a:t>
            </a:r>
            <a:r>
              <a:rPr lang="it-IT" dirty="0" err="1">
                <a:solidFill>
                  <a:schemeClr val="bg1"/>
                </a:solidFill>
              </a:rPr>
              <a:t>into</a:t>
            </a:r>
            <a:r>
              <a:rPr lang="it-IT" dirty="0">
                <a:solidFill>
                  <a:schemeClr val="bg1"/>
                </a:solidFill>
              </a:rPr>
              <a:t> a single JSON format: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BC8925-43F2-538D-CA8C-11C4D95B9E7D}"/>
              </a:ext>
            </a:extLst>
          </p:cNvPr>
          <p:cNvSpPr txBox="1"/>
          <p:nvPr/>
        </p:nvSpPr>
        <p:spPr>
          <a:xfrm>
            <a:off x="237744" y="115824"/>
            <a:ext cx="326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STANDARDIZING LANGUAGES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10B076-A5A9-6A41-0D12-32487B5A6E7F}"/>
              </a:ext>
            </a:extLst>
          </p:cNvPr>
          <p:cNvSpPr txBox="1"/>
          <p:nvPr/>
        </p:nvSpPr>
        <p:spPr>
          <a:xfrm>
            <a:off x="237744" y="4442074"/>
            <a:ext cx="8479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 err="1">
                <a:solidFill>
                  <a:schemeClr val="bg1"/>
                </a:solidFill>
              </a:rPr>
              <a:t>This</a:t>
            </a:r>
            <a:r>
              <a:rPr lang="it-IT" dirty="0">
                <a:solidFill>
                  <a:schemeClr val="bg1"/>
                </a:solidFill>
              </a:rPr>
              <a:t> helps the Rules Engine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now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doesn’t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need</a:t>
            </a:r>
            <a:r>
              <a:rPr lang="it-IT" dirty="0">
                <a:solidFill>
                  <a:schemeClr val="bg1"/>
                </a:solidFill>
              </a:rPr>
              <a:t> to know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the data </a:t>
            </a:r>
            <a:r>
              <a:rPr lang="it-IT" dirty="0" err="1">
                <a:solidFill>
                  <a:schemeClr val="bg1"/>
                </a:solidFill>
              </a:rPr>
              <a:t>came</a:t>
            </a:r>
            <a:r>
              <a:rPr lang="it-IT" dirty="0">
                <a:solidFill>
                  <a:schemeClr val="bg1"/>
                </a:solidFill>
              </a:rPr>
              <a:t> from a REST poll or a </a:t>
            </a:r>
            <a:r>
              <a:rPr lang="it-IT" dirty="0" err="1">
                <a:solidFill>
                  <a:schemeClr val="bg1"/>
                </a:solidFill>
              </a:rPr>
              <a:t>WebSocket</a:t>
            </a:r>
            <a:r>
              <a:rPr lang="it-IT" dirty="0">
                <a:solidFill>
                  <a:schemeClr val="bg1"/>
                </a:solidFill>
              </a:rPr>
              <a:t> stream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CBE7F5-2884-F316-725F-C127B8795A34}"/>
              </a:ext>
            </a:extLst>
          </p:cNvPr>
          <p:cNvSpPr txBox="1"/>
          <p:nvPr/>
        </p:nvSpPr>
        <p:spPr>
          <a:xfrm>
            <a:off x="743712" y="1499616"/>
            <a:ext cx="38282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JSON</a:t>
            </a:r>
          </a:p>
          <a:p>
            <a:r>
              <a:rPr lang="it-IT" dirty="0"/>
              <a:t>{</a:t>
            </a:r>
          </a:p>
          <a:p>
            <a:r>
              <a:rPr lang="it-IT" dirty="0"/>
              <a:t>  "</a:t>
            </a:r>
            <a:r>
              <a:rPr lang="it-IT" dirty="0" err="1"/>
              <a:t>event_id</a:t>
            </a:r>
            <a:r>
              <a:rPr lang="it-IT" dirty="0"/>
              <a:t>": "uuid-v4",</a:t>
            </a:r>
          </a:p>
          <a:p>
            <a:r>
              <a:rPr lang="it-IT" dirty="0"/>
              <a:t>  "</a:t>
            </a:r>
            <a:r>
              <a:rPr lang="it-IT" dirty="0" err="1"/>
              <a:t>ts</a:t>
            </a:r>
            <a:r>
              <a:rPr lang="it-IT" dirty="0"/>
              <a:t>": "2036-03-10T...", </a:t>
            </a:r>
          </a:p>
          <a:p>
            <a:r>
              <a:rPr lang="it-IT" dirty="0"/>
              <a:t>  "</a:t>
            </a:r>
            <a:r>
              <a:rPr lang="it-IT" dirty="0" err="1"/>
              <a:t>sensor_id</a:t>
            </a:r>
            <a:r>
              <a:rPr lang="it-IT" dirty="0"/>
              <a:t>": "</a:t>
            </a:r>
            <a:r>
              <a:rPr lang="it-IT" dirty="0" err="1"/>
              <a:t>greenhouse_temp</a:t>
            </a:r>
            <a:r>
              <a:rPr lang="it-IT" dirty="0"/>
              <a:t>",</a:t>
            </a:r>
          </a:p>
          <a:p>
            <a:r>
              <a:rPr lang="it-IT" dirty="0"/>
              <a:t>  "</a:t>
            </a:r>
            <a:r>
              <a:rPr lang="it-IT" dirty="0" err="1"/>
              <a:t>value</a:t>
            </a:r>
            <a:r>
              <a:rPr lang="it-IT" dirty="0"/>
              <a:t>": 24.5,</a:t>
            </a:r>
          </a:p>
          <a:p>
            <a:r>
              <a:rPr lang="it-IT" dirty="0"/>
              <a:t>  "</a:t>
            </a:r>
            <a:r>
              <a:rPr lang="it-IT" dirty="0" err="1"/>
              <a:t>unit</a:t>
            </a:r>
            <a:r>
              <a:rPr lang="it-IT" dirty="0"/>
              <a:t>": "°C",</a:t>
            </a:r>
          </a:p>
          <a:p>
            <a:r>
              <a:rPr lang="it-IT" dirty="0"/>
              <a:t>  "metadata": { "status": "</a:t>
            </a:r>
            <a:r>
              <a:rPr lang="it-IT" dirty="0" err="1"/>
              <a:t>nominal</a:t>
            </a:r>
            <a:r>
              <a:rPr lang="it-IT" dirty="0"/>
              <a:t>" }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628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63C45974-3648-EC2B-C1E7-024D749C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D6CCF5C2-B101-8116-A28D-78E4F3C559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5A3F5A-0EFD-2B4F-5E9B-27B5CA6E4FC5}"/>
              </a:ext>
            </a:extLst>
          </p:cNvPr>
          <p:cNvSpPr txBox="1"/>
          <p:nvPr/>
        </p:nvSpPr>
        <p:spPr>
          <a:xfrm>
            <a:off x="237744" y="731520"/>
            <a:ext cx="60899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Visual </a:t>
            </a:r>
            <a:r>
              <a:rPr lang="it-IT" dirty="0" err="1">
                <a:solidFill>
                  <a:schemeClr val="bg1"/>
                </a:solidFill>
              </a:rPr>
              <a:t>priority</a:t>
            </a:r>
            <a:r>
              <a:rPr lang="it-IT" dirty="0">
                <a:solidFill>
                  <a:schemeClr val="bg1"/>
                </a:solidFill>
              </a:rPr>
              <a:t>: progress </a:t>
            </a:r>
            <a:r>
              <a:rPr lang="it-IT" dirty="0" err="1">
                <a:solidFill>
                  <a:schemeClr val="bg1"/>
                </a:solidFill>
              </a:rPr>
              <a:t>bars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change</a:t>
            </a:r>
            <a:r>
              <a:rPr lang="it-IT" dirty="0">
                <a:solidFill>
                  <a:schemeClr val="bg1"/>
                </a:solidFill>
              </a:rPr>
              <a:t> color (green-&gt;red) </a:t>
            </a:r>
            <a:r>
              <a:rPr lang="it-IT" dirty="0" err="1">
                <a:solidFill>
                  <a:schemeClr val="bg1"/>
                </a:solidFill>
              </a:rPr>
              <a:t>based</a:t>
            </a:r>
            <a:r>
              <a:rPr lang="it-IT" dirty="0">
                <a:solidFill>
                  <a:schemeClr val="bg1"/>
                </a:solidFill>
              </a:rPr>
              <a:t> on </a:t>
            </a:r>
            <a:r>
              <a:rPr lang="it-IT" dirty="0" err="1">
                <a:solidFill>
                  <a:schemeClr val="bg1"/>
                </a:solidFill>
              </a:rPr>
              <a:t>danger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thresholds</a:t>
            </a:r>
            <a:r>
              <a:rPr lang="it-IT" dirty="0">
                <a:solidFill>
                  <a:schemeClr val="bg1"/>
                </a:solidFill>
              </a:rPr>
              <a:t> (US08)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Transparency</a:t>
            </a:r>
            <a:r>
              <a:rPr lang="it-IT" dirty="0">
                <a:solidFill>
                  <a:schemeClr val="bg1"/>
                </a:solidFill>
              </a:rPr>
              <a:t>: real-time «live» </a:t>
            </a:r>
            <a:r>
              <a:rPr lang="it-IT" dirty="0" err="1">
                <a:solidFill>
                  <a:schemeClr val="bg1"/>
                </a:solidFill>
              </a:rPr>
              <a:t>indicators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verify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telemetry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active</a:t>
            </a:r>
            <a:r>
              <a:rPr lang="it-IT" dirty="0">
                <a:solidFill>
                  <a:schemeClr val="bg1"/>
                </a:solidFill>
              </a:rPr>
              <a:t> (US07)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Accountability: a </a:t>
            </a:r>
            <a:r>
              <a:rPr lang="it-IT" dirty="0" err="1">
                <a:solidFill>
                  <a:schemeClr val="bg1"/>
                </a:solidFill>
              </a:rPr>
              <a:t>timestamped</a:t>
            </a:r>
            <a:r>
              <a:rPr lang="it-IT" dirty="0">
                <a:solidFill>
                  <a:schemeClr val="bg1"/>
                </a:solidFill>
              </a:rPr>
              <a:t>, color-</a:t>
            </a:r>
            <a:r>
              <a:rPr lang="it-IT" dirty="0" err="1">
                <a:solidFill>
                  <a:schemeClr val="bg1"/>
                </a:solidFill>
              </a:rPr>
              <a:t>coded</a:t>
            </a:r>
            <a:r>
              <a:rPr lang="it-IT" dirty="0">
                <a:solidFill>
                  <a:schemeClr val="bg1"/>
                </a:solidFill>
              </a:rPr>
              <a:t> Event log tracks </a:t>
            </a:r>
            <a:r>
              <a:rPr lang="it-IT" dirty="0" err="1">
                <a:solidFill>
                  <a:schemeClr val="bg1"/>
                </a:solidFill>
              </a:rPr>
              <a:t>every</a:t>
            </a:r>
            <a:r>
              <a:rPr lang="it-IT" dirty="0">
                <a:solidFill>
                  <a:schemeClr val="bg1"/>
                </a:solidFill>
              </a:rPr>
              <a:t> system action (US19, US20)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Automatic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discovery</a:t>
            </a:r>
            <a:r>
              <a:rPr lang="it-IT" dirty="0">
                <a:solidFill>
                  <a:schemeClr val="bg1"/>
                </a:solidFill>
              </a:rPr>
              <a:t>: the UI </a:t>
            </a:r>
            <a:r>
              <a:rPr lang="it-IT" dirty="0" err="1">
                <a:solidFill>
                  <a:schemeClr val="bg1"/>
                </a:solidFill>
              </a:rPr>
              <a:t>dynamically</a:t>
            </a:r>
            <a:r>
              <a:rPr lang="it-IT" dirty="0">
                <a:solidFill>
                  <a:schemeClr val="bg1"/>
                </a:solidFill>
              </a:rPr>
              <a:t> lists new </a:t>
            </a:r>
            <a:r>
              <a:rPr lang="it-IT" dirty="0" err="1">
                <a:solidFill>
                  <a:schemeClr val="bg1"/>
                </a:solidFill>
              </a:rPr>
              <a:t>actuators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they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appear</a:t>
            </a:r>
            <a:r>
              <a:rPr lang="it-IT" dirty="0">
                <a:solidFill>
                  <a:schemeClr val="bg1"/>
                </a:solidFill>
              </a:rPr>
              <a:t> in the network (US14)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54992E-D769-868F-5B34-5F1A2F2EB2FF}"/>
              </a:ext>
            </a:extLst>
          </p:cNvPr>
          <p:cNvSpPr txBox="1"/>
          <p:nvPr/>
        </p:nvSpPr>
        <p:spPr>
          <a:xfrm>
            <a:off x="237744" y="115824"/>
            <a:ext cx="326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UI MOCKUP &amp; UX STRATEGY</a:t>
            </a:r>
          </a:p>
        </p:txBody>
      </p:sp>
    </p:spTree>
    <p:extLst>
      <p:ext uri="{BB962C8B-B14F-4D97-AF65-F5344CB8AC3E}">
        <p14:creationId xmlns:p14="http://schemas.microsoft.com/office/powerpoint/2010/main" val="153510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B3D5D01B-5EDD-EF51-7285-161323E9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E3FD6162-2749-5166-7831-DFCA4AAE9B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F041374-43A6-C889-84B1-A961A76739B0}"/>
              </a:ext>
            </a:extLst>
          </p:cNvPr>
          <p:cNvSpPr txBox="1"/>
          <p:nvPr/>
        </p:nvSpPr>
        <p:spPr>
          <a:xfrm>
            <a:off x="237744" y="646176"/>
            <a:ext cx="76992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system </a:t>
            </a:r>
            <a:r>
              <a:rPr lang="it-IT" dirty="0" err="1">
                <a:solidFill>
                  <a:schemeClr val="bg1"/>
                </a:solidFill>
              </a:rPr>
              <a:t>have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manage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two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very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different</a:t>
            </a:r>
            <a:r>
              <a:rPr lang="it-IT" dirty="0">
                <a:solidFill>
                  <a:schemeClr val="bg1"/>
                </a:solidFill>
              </a:rPr>
              <a:t> data flows (</a:t>
            </a:r>
            <a:r>
              <a:rPr lang="it-IT" dirty="0" err="1">
                <a:solidFill>
                  <a:schemeClr val="bg1"/>
                </a:solidFill>
              </a:rPr>
              <a:t>implemented</a:t>
            </a:r>
            <a:r>
              <a:rPr lang="it-IT" dirty="0">
                <a:solidFill>
                  <a:schemeClr val="bg1"/>
                </a:solidFill>
              </a:rPr>
              <a:t> in the files collector_rest.py and collector_telemetry_ws.py)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REST polling (Pull): </a:t>
            </a:r>
            <a:r>
              <a:rPr lang="it-IT" dirty="0" err="1">
                <a:solidFill>
                  <a:schemeClr val="bg1"/>
                </a:solidFill>
              </a:rPr>
              <a:t>used</a:t>
            </a:r>
            <a:r>
              <a:rPr lang="it-IT" dirty="0">
                <a:solidFill>
                  <a:schemeClr val="bg1"/>
                </a:solidFill>
              </a:rPr>
              <a:t> for discrete </a:t>
            </a:r>
            <a:r>
              <a:rPr lang="it-IT" dirty="0" err="1">
                <a:solidFill>
                  <a:schemeClr val="bg1"/>
                </a:solidFill>
              </a:rPr>
              <a:t>sensors</a:t>
            </a:r>
            <a:r>
              <a:rPr lang="it-IT" dirty="0">
                <a:solidFill>
                  <a:schemeClr val="bg1"/>
                </a:solidFill>
              </a:rPr>
              <a:t>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greenhouse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temp</a:t>
            </a:r>
            <a:r>
              <a:rPr lang="it-IT" dirty="0">
                <a:solidFill>
                  <a:schemeClr val="bg1"/>
                </a:solidFill>
              </a:rPr>
              <a:t> and water tank </a:t>
            </a:r>
            <a:r>
              <a:rPr lang="it-IT" dirty="0" err="1">
                <a:solidFill>
                  <a:schemeClr val="bg1"/>
                </a:solidFill>
              </a:rPr>
              <a:t>level</a:t>
            </a:r>
            <a:r>
              <a:rPr lang="it-IT" dirty="0">
                <a:solidFill>
                  <a:schemeClr val="bg1"/>
                </a:solidFill>
              </a:rPr>
              <a:t>). The system queries the simulator </a:t>
            </a:r>
            <a:r>
              <a:rPr lang="it-IT" dirty="0" err="1">
                <a:solidFill>
                  <a:schemeClr val="bg1"/>
                </a:solidFill>
              </a:rPr>
              <a:t>at</a:t>
            </a:r>
            <a:r>
              <a:rPr lang="it-IT" dirty="0">
                <a:solidFill>
                  <a:schemeClr val="bg1"/>
                </a:solidFill>
              </a:rPr>
              <a:t> regular </a:t>
            </a:r>
            <a:r>
              <a:rPr lang="it-IT" dirty="0" err="1">
                <a:solidFill>
                  <a:schemeClr val="bg1"/>
                </a:solidFill>
              </a:rPr>
              <a:t>intervals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WebSockets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Telemetry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Push</a:t>
            </a:r>
            <a:r>
              <a:rPr lang="it-IT" dirty="0">
                <a:solidFill>
                  <a:schemeClr val="bg1"/>
                </a:solidFill>
              </a:rPr>
              <a:t>): </a:t>
            </a:r>
            <a:r>
              <a:rPr lang="it-IT" dirty="0" err="1">
                <a:solidFill>
                  <a:schemeClr val="bg1"/>
                </a:solidFill>
              </a:rPr>
              <a:t>this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used</a:t>
            </a:r>
            <a:r>
              <a:rPr lang="it-IT" dirty="0">
                <a:solidFill>
                  <a:schemeClr val="bg1"/>
                </a:solidFill>
              </a:rPr>
              <a:t> for high-frequency data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radiation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levels</a:t>
            </a:r>
            <a:r>
              <a:rPr lang="it-IT" dirty="0">
                <a:solidFill>
                  <a:schemeClr val="bg1"/>
                </a:solidFill>
              </a:rPr>
              <a:t>, power bus and </a:t>
            </a:r>
            <a:r>
              <a:rPr lang="it-IT" dirty="0" err="1">
                <a:solidFill>
                  <a:schemeClr val="bg1"/>
                </a:solidFill>
              </a:rPr>
              <a:t>airload</a:t>
            </a:r>
            <a:r>
              <a:rPr lang="it-IT" dirty="0">
                <a:solidFill>
                  <a:schemeClr val="bg1"/>
                </a:solidFill>
              </a:rPr>
              <a:t>). The system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always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listening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receives</a:t>
            </a:r>
            <a:r>
              <a:rPr lang="it-IT" dirty="0">
                <a:solidFill>
                  <a:schemeClr val="bg1"/>
                </a:solidFill>
              </a:rPr>
              <a:t> data </a:t>
            </a:r>
            <a:r>
              <a:rPr lang="it-IT" dirty="0" err="1">
                <a:solidFill>
                  <a:schemeClr val="bg1"/>
                </a:solidFill>
              </a:rPr>
              <a:t>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soon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they</a:t>
            </a:r>
            <a:r>
              <a:rPr lang="it-IT" dirty="0">
                <a:solidFill>
                  <a:schemeClr val="bg1"/>
                </a:solidFill>
              </a:rPr>
              <a:t> are </a:t>
            </a:r>
            <a:r>
              <a:rPr lang="it-IT" dirty="0" err="1">
                <a:solidFill>
                  <a:schemeClr val="bg1"/>
                </a:solidFill>
              </a:rPr>
              <a:t>generated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Decoupling: </a:t>
            </a:r>
            <a:r>
              <a:rPr lang="it-IT" dirty="0" err="1">
                <a:solidFill>
                  <a:schemeClr val="bg1"/>
                </a:solidFill>
              </a:rPr>
              <a:t>collectors’s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only</a:t>
            </a:r>
            <a:r>
              <a:rPr lang="it-IT" dirty="0">
                <a:solidFill>
                  <a:schemeClr val="bg1"/>
                </a:solidFill>
              </a:rPr>
              <a:t> job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to fetch </a:t>
            </a:r>
            <a:r>
              <a:rPr lang="it-IT" dirty="0" err="1">
                <a:solidFill>
                  <a:schemeClr val="bg1"/>
                </a:solidFill>
              </a:rPr>
              <a:t>raw</a:t>
            </a:r>
            <a:r>
              <a:rPr lang="it-IT" dirty="0">
                <a:solidFill>
                  <a:schemeClr val="bg1"/>
                </a:solidFill>
              </a:rPr>
              <a:t> data and pass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to the </a:t>
            </a:r>
            <a:r>
              <a:rPr lang="it-IT" dirty="0" err="1">
                <a:solidFill>
                  <a:schemeClr val="bg1"/>
                </a:solidFill>
              </a:rPr>
              <a:t>Normalizer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CBAFFF3-5909-E216-C0AA-A6DE2CDBDFE0}"/>
              </a:ext>
            </a:extLst>
          </p:cNvPr>
          <p:cNvSpPr txBox="1"/>
          <p:nvPr/>
        </p:nvSpPr>
        <p:spPr>
          <a:xfrm>
            <a:off x="237744" y="115824"/>
            <a:ext cx="5882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INGESTION STRATEGY – HETEROGENEOUS SOURCES</a:t>
            </a:r>
          </a:p>
        </p:txBody>
      </p:sp>
    </p:spTree>
    <p:extLst>
      <p:ext uri="{BB962C8B-B14F-4D97-AF65-F5344CB8AC3E}">
        <p14:creationId xmlns:p14="http://schemas.microsoft.com/office/powerpoint/2010/main" val="1252480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4D8DE0EC-F4DE-F027-720B-48970651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8E24656C-246B-1249-555D-77A7179B58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DC17F3-C5A9-79F8-9EFB-33EF26DA91E1}"/>
              </a:ext>
            </a:extLst>
          </p:cNvPr>
          <p:cNvSpPr txBox="1"/>
          <p:nvPr/>
        </p:nvSpPr>
        <p:spPr>
          <a:xfrm>
            <a:off x="237744" y="621792"/>
            <a:ext cx="78943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 err="1">
                <a:solidFill>
                  <a:schemeClr val="bg1"/>
                </a:solidFill>
              </a:rPr>
              <a:t>Every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sensor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type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own</a:t>
            </a:r>
            <a:r>
              <a:rPr lang="it-IT" dirty="0">
                <a:solidFill>
                  <a:schemeClr val="bg1"/>
                </a:solidFill>
              </a:rPr>
              <a:t> data schema. The normalizer.py file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fondamental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keep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our</a:t>
            </a:r>
            <a:r>
              <a:rPr lang="it-IT" dirty="0">
                <a:solidFill>
                  <a:schemeClr val="bg1"/>
                </a:solidFill>
              </a:rPr>
              <a:t> data </a:t>
            </a:r>
            <a:r>
              <a:rPr lang="it-IT" dirty="0" err="1">
                <a:solidFill>
                  <a:schemeClr val="bg1"/>
                </a:solidFill>
              </a:rPr>
              <a:t>consistent</a:t>
            </a:r>
            <a:r>
              <a:rPr lang="it-IT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Dispatcher</a:t>
            </a:r>
            <a:r>
              <a:rPr lang="it-IT" dirty="0">
                <a:solidFill>
                  <a:schemeClr val="bg1"/>
                </a:solidFill>
              </a:rPr>
              <a:t> Pattern: the </a:t>
            </a:r>
            <a:r>
              <a:rPr lang="it-IT" dirty="0" err="1">
                <a:solidFill>
                  <a:schemeClr val="bg1"/>
                </a:solidFill>
              </a:rPr>
              <a:t>normalzie_event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function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receives</a:t>
            </a:r>
            <a:r>
              <a:rPr lang="it-IT" dirty="0">
                <a:solidFill>
                  <a:schemeClr val="bg1"/>
                </a:solidFill>
              </a:rPr>
              <a:t> a «</a:t>
            </a:r>
            <a:r>
              <a:rPr lang="it-IT" dirty="0" err="1">
                <a:solidFill>
                  <a:schemeClr val="bg1"/>
                </a:solidFill>
              </a:rPr>
              <a:t>schema_type</a:t>
            </a:r>
            <a:r>
              <a:rPr lang="it-IT" dirty="0">
                <a:solidFill>
                  <a:schemeClr val="bg1"/>
                </a:solidFill>
              </a:rPr>
              <a:t>» and </a:t>
            </a:r>
            <a:r>
              <a:rPr lang="it-IT" dirty="0" err="1">
                <a:solidFill>
                  <a:schemeClr val="bg1"/>
                </a:solidFill>
              </a:rPr>
              <a:t>routes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packer</a:t>
            </a:r>
            <a:r>
              <a:rPr lang="it-IT" dirty="0">
                <a:solidFill>
                  <a:schemeClr val="bg1"/>
                </a:solidFill>
              </a:rPr>
              <a:t> to a </a:t>
            </a:r>
            <a:r>
              <a:rPr lang="it-IT" dirty="0" err="1">
                <a:solidFill>
                  <a:schemeClr val="bg1"/>
                </a:solidFill>
              </a:rPr>
              <a:t>specific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handler</a:t>
            </a:r>
            <a:r>
              <a:rPr lang="it-IT" dirty="0">
                <a:solidFill>
                  <a:schemeClr val="bg1"/>
                </a:solidFill>
              </a:rPr>
              <a:t> (for </a:t>
            </a:r>
            <a:r>
              <a:rPr lang="it-IT" dirty="0" err="1">
                <a:solidFill>
                  <a:schemeClr val="bg1"/>
                </a:solidFill>
              </a:rPr>
              <a:t>esample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normalize_rest_scalar</a:t>
            </a:r>
            <a:r>
              <a:rPr lang="it-IT" dirty="0">
                <a:solidFill>
                  <a:schemeClr val="bg1"/>
                </a:solidFill>
              </a:rPr>
              <a:t> or </a:t>
            </a:r>
            <a:r>
              <a:rPr lang="it-IT" dirty="0" err="1">
                <a:solidFill>
                  <a:schemeClr val="bg1"/>
                </a:solidFill>
              </a:rPr>
              <a:t>topic_power</a:t>
            </a:r>
            <a:r>
              <a:rPr lang="it-IT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UUID &amp; </a:t>
            </a:r>
            <a:r>
              <a:rPr lang="it-IT" dirty="0" err="1">
                <a:solidFill>
                  <a:schemeClr val="bg1"/>
                </a:solidFill>
              </a:rPr>
              <a:t>timestamps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every</a:t>
            </a:r>
            <a:r>
              <a:rPr lang="it-IT" dirty="0">
                <a:solidFill>
                  <a:schemeClr val="bg1"/>
                </a:solidFill>
              </a:rPr>
              <a:t> event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assigned</a:t>
            </a:r>
            <a:r>
              <a:rPr lang="it-IT" dirty="0">
                <a:solidFill>
                  <a:schemeClr val="bg1"/>
                </a:solidFill>
              </a:rPr>
              <a:t> to a </a:t>
            </a:r>
            <a:r>
              <a:rPr lang="it-IT" dirty="0" err="1">
                <a:solidFill>
                  <a:schemeClr val="bg1"/>
                </a:solidFill>
              </a:rPr>
              <a:t>unique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identifier</a:t>
            </a:r>
            <a:r>
              <a:rPr lang="it-IT" dirty="0">
                <a:solidFill>
                  <a:schemeClr val="bg1"/>
                </a:solidFill>
              </a:rPr>
              <a:t> (uuid4) and </a:t>
            </a:r>
            <a:r>
              <a:rPr lang="it-IT" dirty="0" err="1">
                <a:solidFill>
                  <a:schemeClr val="bg1"/>
                </a:solidFill>
              </a:rPr>
              <a:t>preserves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original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capture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timestamp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Standard output: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doesn’t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matter</a:t>
            </a:r>
            <a:r>
              <a:rPr lang="it-IT" dirty="0">
                <a:solidFill>
                  <a:schemeClr val="bg1"/>
                </a:solidFill>
              </a:rPr>
              <a:t> the source of the data, the output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standardized</a:t>
            </a:r>
            <a:r>
              <a:rPr lang="it-IT" dirty="0">
                <a:solidFill>
                  <a:schemeClr val="bg1"/>
                </a:solidFill>
              </a:rPr>
              <a:t> JSON </a:t>
            </a:r>
            <a:r>
              <a:rPr lang="it-IT" dirty="0" err="1">
                <a:solidFill>
                  <a:schemeClr val="bg1"/>
                </a:solidFill>
              </a:rPr>
              <a:t>object</a:t>
            </a:r>
            <a:r>
              <a:rPr lang="it-IT" dirty="0">
                <a:solidFill>
                  <a:schemeClr val="bg1"/>
                </a:solidFill>
              </a:rPr>
              <a:t> ready for the </a:t>
            </a:r>
            <a:r>
              <a:rPr lang="it-IT" dirty="0" err="1">
                <a:solidFill>
                  <a:schemeClr val="bg1"/>
                </a:solidFill>
              </a:rPr>
              <a:t>message</a:t>
            </a:r>
            <a:r>
              <a:rPr lang="it-IT" dirty="0">
                <a:solidFill>
                  <a:schemeClr val="bg1"/>
                </a:solidFill>
              </a:rPr>
              <a:t> bus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5A34788-547E-86EF-FDFD-45D3AD68A2C2}"/>
              </a:ext>
            </a:extLst>
          </p:cNvPr>
          <p:cNvSpPr txBox="1"/>
          <p:nvPr/>
        </p:nvSpPr>
        <p:spPr>
          <a:xfrm>
            <a:off x="237744" y="115824"/>
            <a:ext cx="326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NORMALIZER</a:t>
            </a:r>
          </a:p>
        </p:txBody>
      </p:sp>
    </p:spTree>
    <p:extLst>
      <p:ext uri="{BB962C8B-B14F-4D97-AF65-F5344CB8AC3E}">
        <p14:creationId xmlns:p14="http://schemas.microsoft.com/office/powerpoint/2010/main" val="380490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F0D057F6-3902-DA9C-4193-95DA1F314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88CD76B3-FD76-AC6C-3198-E6A41CDF56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8FFFD2-4C3B-FB6D-EE29-082A2B87BCF9}"/>
              </a:ext>
            </a:extLst>
          </p:cNvPr>
          <p:cNvSpPr txBox="1"/>
          <p:nvPr/>
        </p:nvSpPr>
        <p:spPr>
          <a:xfrm>
            <a:off x="353568" y="682752"/>
            <a:ext cx="69128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use Kafka in </a:t>
            </a:r>
            <a:r>
              <a:rPr lang="it-IT" dirty="0" err="1">
                <a:solidFill>
                  <a:schemeClr val="bg1"/>
                </a:solidFill>
              </a:rPr>
              <a:t>this</a:t>
            </a:r>
            <a:r>
              <a:rPr lang="it-IT" dirty="0">
                <a:solidFill>
                  <a:schemeClr val="bg1"/>
                </a:solidFill>
              </a:rPr>
              <a:t> part, </a:t>
            </a:r>
            <a:r>
              <a:rPr lang="it-IT" dirty="0" err="1">
                <a:solidFill>
                  <a:schemeClr val="bg1"/>
                </a:solidFill>
              </a:rPr>
              <a:t>which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gives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us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Asynchronicity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the Rules Engine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busy</a:t>
            </a:r>
            <a:r>
              <a:rPr lang="it-IT" dirty="0">
                <a:solidFill>
                  <a:schemeClr val="bg1"/>
                </a:solidFill>
              </a:rPr>
              <a:t> or offline, the data </a:t>
            </a:r>
            <a:r>
              <a:rPr lang="it-IT" dirty="0" err="1">
                <a:solidFill>
                  <a:schemeClr val="bg1"/>
                </a:solidFill>
              </a:rPr>
              <a:t>doesn’t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get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lost</a:t>
            </a:r>
            <a:r>
              <a:rPr lang="it-IT" dirty="0">
                <a:solidFill>
                  <a:schemeClr val="bg1"/>
                </a:solidFill>
              </a:rPr>
              <a:t>.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stays in the </a:t>
            </a:r>
            <a:r>
              <a:rPr lang="it-IT" dirty="0" err="1">
                <a:solidFill>
                  <a:schemeClr val="bg1"/>
                </a:solidFill>
              </a:rPr>
              <a:t>mars_normalized_events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topic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Scalability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can </a:t>
            </a:r>
            <a:r>
              <a:rPr lang="it-IT" dirty="0" err="1">
                <a:solidFill>
                  <a:schemeClr val="bg1"/>
                </a:solidFill>
              </a:rPr>
              <a:t>add</a:t>
            </a:r>
            <a:r>
              <a:rPr lang="it-IT" dirty="0">
                <a:solidFill>
                  <a:schemeClr val="bg1"/>
                </a:solidFill>
              </a:rPr>
              <a:t> infinite </a:t>
            </a:r>
            <a:r>
              <a:rPr lang="it-IT" dirty="0" err="1">
                <a:solidFill>
                  <a:schemeClr val="bg1"/>
                </a:solidFill>
              </a:rPr>
              <a:t>collectors</a:t>
            </a:r>
            <a:r>
              <a:rPr lang="it-IT" dirty="0">
                <a:solidFill>
                  <a:schemeClr val="bg1"/>
                </a:solidFill>
              </a:rPr>
              <a:t> or consumers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a database for history or an AI </a:t>
            </a:r>
            <a:r>
              <a:rPr lang="it-IT" dirty="0" err="1">
                <a:solidFill>
                  <a:schemeClr val="bg1"/>
                </a:solidFill>
              </a:rPr>
              <a:t>module</a:t>
            </a:r>
            <a:r>
              <a:rPr lang="it-IT" dirty="0">
                <a:solidFill>
                  <a:schemeClr val="bg1"/>
                </a:solidFill>
              </a:rPr>
              <a:t>) </a:t>
            </a:r>
            <a:r>
              <a:rPr lang="it-IT" dirty="0" err="1">
                <a:solidFill>
                  <a:schemeClr val="bg1"/>
                </a:solidFill>
              </a:rPr>
              <a:t>without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changing</a:t>
            </a:r>
            <a:r>
              <a:rPr lang="it-IT" dirty="0">
                <a:solidFill>
                  <a:schemeClr val="bg1"/>
                </a:solidFill>
              </a:rPr>
              <a:t> a single line of </a:t>
            </a:r>
            <a:r>
              <a:rPr lang="it-IT" dirty="0" err="1">
                <a:solidFill>
                  <a:schemeClr val="bg1"/>
                </a:solidFill>
              </a:rPr>
              <a:t>collector</a:t>
            </a:r>
            <a:r>
              <a:rPr lang="it-IT" dirty="0">
                <a:solidFill>
                  <a:schemeClr val="bg1"/>
                </a:solidFill>
              </a:rPr>
              <a:t> code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Reliability: </a:t>
            </a:r>
            <a:r>
              <a:rPr lang="it-IT" dirty="0" err="1">
                <a:solidFill>
                  <a:schemeClr val="bg1"/>
                </a:solidFill>
              </a:rPr>
              <a:t>there’s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built</a:t>
            </a:r>
            <a:r>
              <a:rPr lang="it-IT" dirty="0">
                <a:solidFill>
                  <a:schemeClr val="bg1"/>
                </a:solidFill>
              </a:rPr>
              <a:t>-in </a:t>
            </a:r>
            <a:r>
              <a:rPr lang="it-IT" dirty="0" err="1">
                <a:solidFill>
                  <a:schemeClr val="bg1"/>
                </a:solidFill>
              </a:rPr>
              <a:t>error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handling</a:t>
            </a:r>
            <a:r>
              <a:rPr lang="it-IT" dirty="0">
                <a:solidFill>
                  <a:schemeClr val="bg1"/>
                </a:solidFill>
              </a:rPr>
              <a:t>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while</a:t>
            </a:r>
            <a:r>
              <a:rPr lang="it-IT" dirty="0">
                <a:solidFill>
                  <a:schemeClr val="bg1"/>
                </a:solidFill>
              </a:rPr>
              <a:t> producer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None loop in </a:t>
            </a:r>
            <a:r>
              <a:rPr lang="it-IT" dirty="0" err="1">
                <a:solidFill>
                  <a:schemeClr val="bg1"/>
                </a:solidFill>
              </a:rPr>
              <a:t>collectors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wait</a:t>
            </a:r>
            <a:r>
              <a:rPr lang="it-IT" dirty="0">
                <a:solidFill>
                  <a:schemeClr val="bg1"/>
                </a:solidFill>
              </a:rPr>
              <a:t> for the broker to be ready)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4E53FD5-B082-907F-4E12-E0A5BCEB5473}"/>
              </a:ext>
            </a:extLst>
          </p:cNvPr>
          <p:cNvSpPr txBox="1"/>
          <p:nvPr/>
        </p:nvSpPr>
        <p:spPr>
          <a:xfrm>
            <a:off x="237744" y="115824"/>
            <a:ext cx="32674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MESSAGING WITH APACHE KAFKA</a:t>
            </a:r>
          </a:p>
        </p:txBody>
      </p:sp>
    </p:spTree>
    <p:extLst>
      <p:ext uri="{BB962C8B-B14F-4D97-AF65-F5344CB8AC3E}">
        <p14:creationId xmlns:p14="http://schemas.microsoft.com/office/powerpoint/2010/main" val="203472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F43EB891-C11B-8589-EF2E-A7E0AAAC5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3C67026D-FD05-F189-D944-CD5893CE6D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68C656-5E73-863B-DEC5-DEFAA419DED9}"/>
              </a:ext>
            </a:extLst>
          </p:cNvPr>
          <p:cNvSpPr txBox="1"/>
          <p:nvPr/>
        </p:nvSpPr>
        <p:spPr>
          <a:xfrm>
            <a:off x="365760" y="755904"/>
            <a:ext cx="64495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collector_rest.py file </a:t>
            </a:r>
            <a:r>
              <a:rPr lang="it-IT" dirty="0" err="1">
                <a:solidFill>
                  <a:schemeClr val="bg1"/>
                </a:solidFill>
              </a:rPr>
              <a:t>does</a:t>
            </a:r>
            <a:r>
              <a:rPr lang="it-IT" dirty="0">
                <a:solidFill>
                  <a:schemeClr val="bg1"/>
                </a:solidFill>
              </a:rPr>
              <a:t> the following: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Configuration</a:t>
            </a:r>
            <a:r>
              <a:rPr lang="it-IT" dirty="0">
                <a:solidFill>
                  <a:schemeClr val="bg1"/>
                </a:solidFill>
              </a:rPr>
              <a:t>: a REST_SENSORS list </a:t>
            </a:r>
            <a:r>
              <a:rPr lang="it-IT" dirty="0" err="1">
                <a:solidFill>
                  <a:schemeClr val="bg1"/>
                </a:solidFill>
              </a:rPr>
              <a:t>maps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every</a:t>
            </a:r>
            <a:r>
              <a:rPr lang="it-IT" dirty="0">
                <a:solidFill>
                  <a:schemeClr val="bg1"/>
                </a:solidFill>
              </a:rPr>
              <a:t> endpoint to a </a:t>
            </a:r>
            <a:r>
              <a:rPr lang="it-IT" dirty="0" err="1">
                <a:solidFill>
                  <a:schemeClr val="bg1"/>
                </a:solidFill>
              </a:rPr>
              <a:t>specific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normalization</a:t>
            </a:r>
            <a:r>
              <a:rPr lang="it-IT" dirty="0">
                <a:solidFill>
                  <a:schemeClr val="bg1"/>
                </a:solidFill>
              </a:rPr>
              <a:t> schema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Robustness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uses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response.raise_for_status</a:t>
            </a:r>
            <a:r>
              <a:rPr lang="it-IT" dirty="0">
                <a:solidFill>
                  <a:schemeClr val="bg1"/>
                </a:solidFill>
              </a:rPr>
              <a:t>() and </a:t>
            </a:r>
            <a:r>
              <a:rPr lang="it-IT" dirty="0" err="1">
                <a:solidFill>
                  <a:schemeClr val="bg1"/>
                </a:solidFill>
              </a:rPr>
              <a:t>try-except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blocks</a:t>
            </a:r>
            <a:r>
              <a:rPr lang="it-IT" dirty="0">
                <a:solidFill>
                  <a:schemeClr val="bg1"/>
                </a:solidFill>
              </a:rPr>
              <a:t> to handle </a:t>
            </a:r>
            <a:r>
              <a:rPr lang="it-IT" dirty="0" err="1">
                <a:solidFill>
                  <a:schemeClr val="bg1"/>
                </a:solidFill>
              </a:rPr>
              <a:t>Martian</a:t>
            </a:r>
            <a:r>
              <a:rPr lang="it-IT" dirty="0">
                <a:solidFill>
                  <a:schemeClr val="bg1"/>
                </a:solidFill>
              </a:rPr>
              <a:t> network </a:t>
            </a:r>
            <a:r>
              <a:rPr lang="it-IT" dirty="0" err="1">
                <a:solidFill>
                  <a:schemeClr val="bg1"/>
                </a:solidFill>
              </a:rPr>
              <a:t>failures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Ingestion</a:t>
            </a:r>
            <a:r>
              <a:rPr lang="it-IT" dirty="0">
                <a:solidFill>
                  <a:schemeClr val="bg1"/>
                </a:solidFill>
              </a:rPr>
              <a:t> Loop: a </a:t>
            </a:r>
            <a:r>
              <a:rPr lang="it-IT" dirty="0" err="1">
                <a:solidFill>
                  <a:schemeClr val="bg1"/>
                </a:solidFill>
              </a:rPr>
              <a:t>continuous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while</a:t>
            </a:r>
            <a:r>
              <a:rPr lang="it-IT" dirty="0">
                <a:solidFill>
                  <a:schemeClr val="bg1"/>
                </a:solidFill>
              </a:rPr>
              <a:t> True </a:t>
            </a:r>
            <a:r>
              <a:rPr lang="it-IT" dirty="0" err="1">
                <a:solidFill>
                  <a:schemeClr val="bg1"/>
                </a:solidFill>
              </a:rPr>
              <a:t>cycle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ensures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constant</a:t>
            </a:r>
            <a:r>
              <a:rPr lang="it-IT" dirty="0">
                <a:solidFill>
                  <a:schemeClr val="bg1"/>
                </a:solidFill>
              </a:rPr>
              <a:t> monitoring </a:t>
            </a:r>
            <a:r>
              <a:rPr lang="it-IT" dirty="0" err="1">
                <a:solidFill>
                  <a:schemeClr val="bg1"/>
                </a:solidFill>
              </a:rPr>
              <a:t>without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interruprions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DB5E0C7-B46E-4B4C-F18C-BC0EAB6D33BC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DEEP DIVE: REST COLLECTOR CODE</a:t>
            </a:r>
          </a:p>
        </p:txBody>
      </p:sp>
    </p:spTree>
    <p:extLst>
      <p:ext uri="{BB962C8B-B14F-4D97-AF65-F5344CB8AC3E}">
        <p14:creationId xmlns:p14="http://schemas.microsoft.com/office/powerpoint/2010/main" val="389472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9E1769D0-EFF3-06C0-094C-5164167C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9B6828BE-3E13-6E2D-FCE4-41B76204B8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83BDCA-4F8E-8FE1-97E7-38F672512A0D}"/>
              </a:ext>
            </a:extLst>
          </p:cNvPr>
          <p:cNvSpPr txBox="1"/>
          <p:nvPr/>
        </p:nvSpPr>
        <p:spPr>
          <a:xfrm>
            <a:off x="365760" y="755904"/>
            <a:ext cx="64495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collector_telemetry_ws.py file </a:t>
            </a:r>
            <a:r>
              <a:rPr lang="it-IT" dirty="0" err="1">
                <a:solidFill>
                  <a:schemeClr val="bg1"/>
                </a:solidFill>
              </a:rPr>
              <a:t>does</a:t>
            </a:r>
            <a:r>
              <a:rPr lang="it-IT" dirty="0">
                <a:solidFill>
                  <a:schemeClr val="bg1"/>
                </a:solidFill>
              </a:rPr>
              <a:t> the following: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Concurrency</a:t>
            </a:r>
            <a:r>
              <a:rPr lang="it-IT" dirty="0">
                <a:solidFill>
                  <a:schemeClr val="bg1"/>
                </a:solidFill>
              </a:rPr>
              <a:t> with </a:t>
            </a:r>
            <a:r>
              <a:rPr lang="it-IT" dirty="0" err="1">
                <a:solidFill>
                  <a:schemeClr val="bg1"/>
                </a:solidFill>
              </a:rPr>
              <a:t>asyncio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manages</a:t>
            </a:r>
            <a:r>
              <a:rPr lang="it-IT" dirty="0">
                <a:solidFill>
                  <a:schemeClr val="bg1"/>
                </a:solidFill>
              </a:rPr>
              <a:t> multiple </a:t>
            </a:r>
            <a:r>
              <a:rPr lang="it-IT" dirty="0" err="1">
                <a:solidFill>
                  <a:schemeClr val="bg1"/>
                </a:solidFill>
              </a:rPr>
              <a:t>WebSocket</a:t>
            </a:r>
            <a:r>
              <a:rPr lang="it-IT" dirty="0">
                <a:solidFill>
                  <a:schemeClr val="bg1"/>
                </a:solidFill>
              </a:rPr>
              <a:t> streams </a:t>
            </a:r>
            <a:r>
              <a:rPr lang="it-IT" dirty="0" err="1">
                <a:solidFill>
                  <a:schemeClr val="bg1"/>
                </a:solidFill>
              </a:rPr>
              <a:t>together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without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blocking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execution</a:t>
            </a:r>
            <a:r>
              <a:rPr lang="it-IT" dirty="0">
                <a:solidFill>
                  <a:schemeClr val="bg1"/>
                </a:solidFill>
              </a:rPr>
              <a:t> flow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Auto-</a:t>
            </a:r>
            <a:r>
              <a:rPr lang="it-IT" dirty="0" err="1">
                <a:solidFill>
                  <a:schemeClr val="bg1"/>
                </a:solidFill>
              </a:rPr>
              <a:t>healing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a connection drops, the system </a:t>
            </a:r>
            <a:r>
              <a:rPr lang="it-IT" dirty="0" err="1">
                <a:solidFill>
                  <a:schemeClr val="bg1"/>
                </a:solidFill>
              </a:rPr>
              <a:t>waits</a:t>
            </a:r>
            <a:r>
              <a:rPr lang="it-IT" dirty="0">
                <a:solidFill>
                  <a:schemeClr val="bg1"/>
                </a:solidFill>
              </a:rPr>
              <a:t> 3 seconds and </a:t>
            </a:r>
            <a:r>
              <a:rPr lang="it-IT" dirty="0" err="1">
                <a:solidFill>
                  <a:schemeClr val="bg1"/>
                </a:solidFill>
              </a:rPr>
              <a:t>attemps</a:t>
            </a:r>
            <a:r>
              <a:rPr lang="it-IT" dirty="0">
                <a:solidFill>
                  <a:schemeClr val="bg1"/>
                </a:solidFill>
              </a:rPr>
              <a:t> an </a:t>
            </a:r>
            <a:r>
              <a:rPr lang="it-IT" dirty="0" err="1">
                <a:solidFill>
                  <a:schemeClr val="bg1"/>
                </a:solidFill>
              </a:rPr>
              <a:t>automatic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reconnection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await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asyncio.sleep</a:t>
            </a:r>
            <a:r>
              <a:rPr lang="it-IT" dirty="0">
                <a:solidFill>
                  <a:schemeClr val="bg1"/>
                </a:solidFill>
              </a:rPr>
              <a:t>(3))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Efficiency</a:t>
            </a:r>
            <a:r>
              <a:rPr lang="it-IT" dirty="0">
                <a:solidFill>
                  <a:schemeClr val="bg1"/>
                </a:solidFill>
              </a:rPr>
              <a:t>: data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pushed</a:t>
            </a:r>
            <a:r>
              <a:rPr lang="it-IT" dirty="0">
                <a:solidFill>
                  <a:schemeClr val="bg1"/>
                </a:solidFill>
              </a:rPr>
              <a:t> to Kafka in real-time, </a:t>
            </a:r>
            <a:r>
              <a:rPr lang="it-IT" dirty="0" err="1">
                <a:solidFill>
                  <a:schemeClr val="bg1"/>
                </a:solidFill>
              </a:rPr>
              <a:t>ensuring</a:t>
            </a:r>
            <a:r>
              <a:rPr lang="it-IT" dirty="0">
                <a:solidFill>
                  <a:schemeClr val="bg1"/>
                </a:solidFill>
              </a:rPr>
              <a:t> the dashboard </a:t>
            </a:r>
            <a:r>
              <a:rPr lang="it-IT" dirty="0" err="1">
                <a:solidFill>
                  <a:schemeClr val="bg1"/>
                </a:solidFill>
              </a:rPr>
              <a:t>reflects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radiation</a:t>
            </a:r>
            <a:r>
              <a:rPr lang="it-IT" dirty="0">
                <a:solidFill>
                  <a:schemeClr val="bg1"/>
                </a:solidFill>
              </a:rPr>
              <a:t> spikes </a:t>
            </a:r>
            <a:r>
              <a:rPr lang="it-IT" dirty="0" err="1">
                <a:solidFill>
                  <a:schemeClr val="bg1"/>
                </a:solidFill>
              </a:rPr>
              <a:t>instantly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7DD9860-F81A-EEC3-9829-E5B3599069EF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DEEP DIVE: WEBSOCKET COLLECTOR CODE</a:t>
            </a:r>
          </a:p>
        </p:txBody>
      </p:sp>
    </p:spTree>
    <p:extLst>
      <p:ext uri="{BB962C8B-B14F-4D97-AF65-F5344CB8AC3E}">
        <p14:creationId xmlns:p14="http://schemas.microsoft.com/office/powerpoint/2010/main" val="318664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602CD1A2-5FB0-F8EB-1778-922072EE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1B1F799B-BBF7-2D50-29F1-9BB083AA58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126973E-653E-6F5F-0CD4-85F0DEE7E557}"/>
              </a:ext>
            </a:extLst>
          </p:cNvPr>
          <p:cNvSpPr txBox="1"/>
          <p:nvPr/>
        </p:nvSpPr>
        <p:spPr>
          <a:xfrm>
            <a:off x="365760" y="755904"/>
            <a:ext cx="644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Rules Engine (engine.py)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a multi-</a:t>
            </a:r>
            <a:r>
              <a:rPr lang="it-IT" dirty="0" err="1">
                <a:solidFill>
                  <a:schemeClr val="bg1"/>
                </a:solidFill>
              </a:rPr>
              <a:t>threaded</a:t>
            </a:r>
            <a:r>
              <a:rPr lang="it-IT" dirty="0">
                <a:solidFill>
                  <a:schemeClr val="bg1"/>
                </a:solidFill>
              </a:rPr>
              <a:t> service </a:t>
            </a:r>
            <a:r>
              <a:rPr lang="it-IT" dirty="0" err="1">
                <a:solidFill>
                  <a:schemeClr val="bg1"/>
                </a:solidFill>
              </a:rPr>
              <a:t>designed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process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environmental</a:t>
            </a:r>
            <a:r>
              <a:rPr lang="it-IT" dirty="0">
                <a:solidFill>
                  <a:schemeClr val="bg1"/>
                </a:solidFill>
              </a:rPr>
              <a:t> data and </a:t>
            </a:r>
            <a:r>
              <a:rPr lang="it-IT" dirty="0" err="1">
                <a:solidFill>
                  <a:schemeClr val="bg1"/>
                </a:solidFill>
              </a:rPr>
              <a:t>execute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sadety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protocols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without</a:t>
            </a:r>
            <a:r>
              <a:rPr lang="it-IT" dirty="0">
                <a:solidFill>
                  <a:schemeClr val="bg1"/>
                </a:solidFill>
              </a:rPr>
              <a:t> human </a:t>
            </a:r>
            <a:r>
              <a:rPr lang="it-IT" dirty="0" err="1">
                <a:solidFill>
                  <a:schemeClr val="bg1"/>
                </a:solidFill>
              </a:rPr>
              <a:t>intervention</a:t>
            </a:r>
            <a:r>
              <a:rPr lang="it-IT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Asynchronous</a:t>
            </a:r>
            <a:r>
              <a:rPr lang="it-IT" dirty="0">
                <a:solidFill>
                  <a:schemeClr val="bg1"/>
                </a:solidFill>
              </a:rPr>
              <a:t> processing: </a:t>
            </a:r>
            <a:r>
              <a:rPr lang="it-IT" dirty="0" err="1">
                <a:solidFill>
                  <a:schemeClr val="bg1"/>
                </a:solidFill>
              </a:rPr>
              <a:t>uses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dedicated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thread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consume</a:t>
            </a:r>
            <a:r>
              <a:rPr lang="it-IT" dirty="0">
                <a:solidFill>
                  <a:schemeClr val="bg1"/>
                </a:solidFill>
              </a:rPr>
              <a:t> events from Kafka (</a:t>
            </a:r>
            <a:r>
              <a:rPr lang="it-IT" dirty="0" err="1">
                <a:solidFill>
                  <a:schemeClr val="bg1"/>
                </a:solidFill>
              </a:rPr>
              <a:t>run_kafka_consumer</a:t>
            </a:r>
            <a:r>
              <a:rPr lang="it-IT" dirty="0">
                <a:solidFill>
                  <a:schemeClr val="bg1"/>
                </a:solidFill>
              </a:rPr>
              <a:t>), </a:t>
            </a:r>
            <a:r>
              <a:rPr lang="it-IT" dirty="0" err="1">
                <a:solidFill>
                  <a:schemeClr val="bg1"/>
                </a:solidFill>
              </a:rPr>
              <a:t>ensuring</a:t>
            </a:r>
            <a:r>
              <a:rPr lang="it-IT" dirty="0">
                <a:solidFill>
                  <a:schemeClr val="bg1"/>
                </a:solidFill>
              </a:rPr>
              <a:t> the API </a:t>
            </a:r>
            <a:r>
              <a:rPr lang="it-IT" dirty="0" err="1">
                <a:solidFill>
                  <a:schemeClr val="bg1"/>
                </a:solidFill>
              </a:rPr>
              <a:t>remains</a:t>
            </a:r>
            <a:r>
              <a:rPr lang="it-IT" dirty="0">
                <a:solidFill>
                  <a:schemeClr val="bg1"/>
                </a:solidFill>
              </a:rPr>
              <a:t> responsive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State </a:t>
            </a:r>
            <a:r>
              <a:rPr lang="it-IT" dirty="0" err="1">
                <a:solidFill>
                  <a:schemeClr val="bg1"/>
                </a:solidFill>
              </a:rPr>
              <a:t>awareness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maintains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local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memory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sensor_mem</a:t>
            </a:r>
            <a:r>
              <a:rPr lang="it-IT" dirty="0">
                <a:solidFill>
                  <a:schemeClr val="bg1"/>
                </a:solidFill>
              </a:rPr>
              <a:t>) of the </a:t>
            </a:r>
            <a:r>
              <a:rPr lang="it-IT" dirty="0" err="1">
                <a:solidFill>
                  <a:schemeClr val="bg1"/>
                </a:solidFill>
              </a:rPr>
              <a:t>latest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sensor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values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allow</a:t>
            </a:r>
            <a:r>
              <a:rPr lang="it-IT" dirty="0">
                <a:solidFill>
                  <a:schemeClr val="bg1"/>
                </a:solidFill>
              </a:rPr>
              <a:t> for </a:t>
            </a:r>
            <a:r>
              <a:rPr lang="it-IT" dirty="0" err="1">
                <a:solidFill>
                  <a:schemeClr val="bg1"/>
                </a:solidFill>
              </a:rPr>
              <a:t>complex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evaluations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Trigger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when</a:t>
            </a:r>
            <a:r>
              <a:rPr lang="it-IT" dirty="0">
                <a:solidFill>
                  <a:schemeClr val="bg1"/>
                </a:solidFill>
              </a:rPr>
              <a:t> a new </a:t>
            </a:r>
            <a:r>
              <a:rPr lang="it-IT" dirty="0" err="1">
                <a:solidFill>
                  <a:schemeClr val="bg1"/>
                </a:solidFill>
              </a:rPr>
              <a:t>sensor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value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arrives</a:t>
            </a:r>
            <a:r>
              <a:rPr lang="it-IT" dirty="0">
                <a:solidFill>
                  <a:schemeClr val="bg1"/>
                </a:solidFill>
              </a:rPr>
              <a:t>, the </a:t>
            </a:r>
            <a:r>
              <a:rPr lang="it-IT" dirty="0" err="1">
                <a:solidFill>
                  <a:schemeClr val="bg1"/>
                </a:solidFill>
              </a:rPr>
              <a:t>engine</a:t>
            </a:r>
            <a:r>
              <a:rPr lang="it-IT" dirty="0">
                <a:solidFill>
                  <a:schemeClr val="bg1"/>
                </a:solidFill>
              </a:rPr>
              <a:t> queries the database for </a:t>
            </a:r>
            <a:r>
              <a:rPr lang="it-IT" dirty="0" err="1">
                <a:solidFill>
                  <a:schemeClr val="bg1"/>
                </a:solidFill>
              </a:rPr>
              <a:t>associated</a:t>
            </a:r>
            <a:r>
              <a:rPr lang="it-IT" dirty="0">
                <a:solidFill>
                  <a:schemeClr val="bg1"/>
                </a:solidFill>
              </a:rPr>
              <a:t> rules and </a:t>
            </a:r>
            <a:r>
              <a:rPr lang="it-IT" dirty="0" err="1">
                <a:solidFill>
                  <a:schemeClr val="bg1"/>
                </a:solidFill>
              </a:rPr>
              <a:t>avaluates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them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immediately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C5AC35-3D08-08FF-2C05-921F3C22535E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RULES ENGINE – THE «BRAIN» OF THE HABITAT</a:t>
            </a:r>
          </a:p>
        </p:txBody>
      </p:sp>
    </p:spTree>
    <p:extLst>
      <p:ext uri="{BB962C8B-B14F-4D97-AF65-F5344CB8AC3E}">
        <p14:creationId xmlns:p14="http://schemas.microsoft.com/office/powerpoint/2010/main" val="120013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E475584F-DD58-F307-7E5C-CFA49940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0A4DEC95-419C-484D-1FC1-AD4BE8F1A7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55C0FB-29D0-F777-2158-9992AD675912}"/>
              </a:ext>
            </a:extLst>
          </p:cNvPr>
          <p:cNvSpPr txBox="1"/>
          <p:nvPr/>
        </p:nvSpPr>
        <p:spPr>
          <a:xfrm>
            <a:off x="365760" y="755904"/>
            <a:ext cx="6449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r>
              <a:rPr lang="it-IT" dirty="0">
                <a:solidFill>
                  <a:schemeClr val="bg1"/>
                </a:solidFill>
              </a:rPr>
              <a:t> (</a:t>
            </a:r>
            <a:r>
              <a:rPr lang="it-IT" dirty="0" err="1">
                <a:solidFill>
                  <a:schemeClr val="bg1"/>
                </a:solidFill>
              </a:rPr>
              <a:t>implemented</a:t>
            </a:r>
            <a:r>
              <a:rPr lang="it-IT" dirty="0">
                <a:solidFill>
                  <a:schemeClr val="bg1"/>
                </a:solidFill>
              </a:rPr>
              <a:t> in </a:t>
            </a:r>
            <a:r>
              <a:rPr lang="it-IT" dirty="0" err="1">
                <a:solidFill>
                  <a:schemeClr val="bg1"/>
                </a:solidFill>
              </a:rPr>
              <a:t>evaluate_condition</a:t>
            </a:r>
            <a:r>
              <a:rPr lang="it-IT" dirty="0">
                <a:solidFill>
                  <a:schemeClr val="bg1"/>
                </a:solidFill>
              </a:rPr>
              <a:t>) supports a full range of </a:t>
            </a:r>
            <a:r>
              <a:rPr lang="it-IT" dirty="0" err="1">
                <a:solidFill>
                  <a:schemeClr val="bg1"/>
                </a:solidFill>
              </a:rPr>
              <a:t>comparison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operators</a:t>
            </a:r>
            <a:r>
              <a:rPr lang="it-IT" dirty="0">
                <a:solidFill>
                  <a:schemeClr val="bg1"/>
                </a:solidFill>
              </a:rPr>
              <a:t> to handle </a:t>
            </a:r>
            <a:r>
              <a:rPr lang="it-IT" dirty="0" err="1">
                <a:solidFill>
                  <a:schemeClr val="bg1"/>
                </a:solidFill>
              </a:rPr>
              <a:t>different</a:t>
            </a:r>
            <a:r>
              <a:rPr lang="it-IT" dirty="0">
                <a:solidFill>
                  <a:schemeClr val="bg1"/>
                </a:solidFill>
              </a:rPr>
              <a:t> mission </a:t>
            </a:r>
            <a:r>
              <a:rPr lang="it-IT" dirty="0" err="1">
                <a:solidFill>
                  <a:schemeClr val="bg1"/>
                </a:solidFill>
              </a:rPr>
              <a:t>scenarios</a:t>
            </a:r>
            <a:r>
              <a:rPr lang="it-IT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Operators</a:t>
            </a:r>
            <a:r>
              <a:rPr lang="it-IT" dirty="0">
                <a:solidFill>
                  <a:schemeClr val="bg1"/>
                </a:solidFill>
              </a:rPr>
              <a:t>: &lt;, &gt;, ==, &gt;=, &lt;=, !=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Dynamic </a:t>
            </a:r>
            <a:r>
              <a:rPr lang="it-IT" dirty="0" err="1">
                <a:solidFill>
                  <a:schemeClr val="bg1"/>
                </a:solidFill>
              </a:rPr>
              <a:t>Thresholds</a:t>
            </a:r>
            <a:r>
              <a:rPr lang="it-IT" dirty="0">
                <a:solidFill>
                  <a:schemeClr val="bg1"/>
                </a:solidFill>
              </a:rPr>
              <a:t>: rules are </a:t>
            </a:r>
            <a:r>
              <a:rPr lang="it-IT" dirty="0" err="1">
                <a:solidFill>
                  <a:schemeClr val="bg1"/>
                </a:solidFill>
              </a:rPr>
              <a:t>not</a:t>
            </a:r>
            <a:r>
              <a:rPr lang="it-IT" dirty="0">
                <a:solidFill>
                  <a:schemeClr val="bg1"/>
                </a:solidFill>
              </a:rPr>
              <a:t> hard-</a:t>
            </a:r>
            <a:r>
              <a:rPr lang="it-IT" dirty="0" err="1">
                <a:solidFill>
                  <a:schemeClr val="bg1"/>
                </a:solidFill>
              </a:rPr>
              <a:t>coded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they</a:t>
            </a:r>
            <a:r>
              <a:rPr lang="it-IT" dirty="0">
                <a:solidFill>
                  <a:schemeClr val="bg1"/>
                </a:solidFill>
              </a:rPr>
              <a:t> are </a:t>
            </a:r>
            <a:r>
              <a:rPr lang="it-IT" dirty="0" err="1">
                <a:solidFill>
                  <a:schemeClr val="bg1"/>
                </a:solidFill>
              </a:rPr>
              <a:t>fetched</a:t>
            </a:r>
            <a:r>
              <a:rPr lang="it-IT" dirty="0">
                <a:solidFill>
                  <a:schemeClr val="bg1"/>
                </a:solidFill>
              </a:rPr>
              <a:t> from the DB, </a:t>
            </a:r>
            <a:r>
              <a:rPr lang="it-IT" dirty="0" err="1">
                <a:solidFill>
                  <a:schemeClr val="bg1"/>
                </a:solidFill>
              </a:rPr>
              <a:t>allowing</a:t>
            </a:r>
            <a:r>
              <a:rPr lang="it-IT" dirty="0">
                <a:solidFill>
                  <a:schemeClr val="bg1"/>
                </a:solidFill>
              </a:rPr>
              <a:t> the Crew to </a:t>
            </a:r>
            <a:r>
              <a:rPr lang="it-IT" dirty="0" err="1">
                <a:solidFill>
                  <a:schemeClr val="bg1"/>
                </a:solidFill>
              </a:rPr>
              <a:t>change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safety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limits</a:t>
            </a:r>
            <a:r>
              <a:rPr lang="it-IT" dirty="0">
                <a:solidFill>
                  <a:schemeClr val="bg1"/>
                </a:solidFill>
              </a:rPr>
              <a:t> on the </a:t>
            </a:r>
            <a:r>
              <a:rPr lang="it-IT" dirty="0" err="1">
                <a:solidFill>
                  <a:schemeClr val="bg1"/>
                </a:solidFill>
              </a:rPr>
              <a:t>fly</a:t>
            </a:r>
            <a:r>
              <a:rPr lang="it-IT" dirty="0">
                <a:solidFill>
                  <a:schemeClr val="bg1"/>
                </a:solidFill>
              </a:rPr>
              <a:t>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lowering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temeprature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thresholds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during</a:t>
            </a:r>
            <a:r>
              <a:rPr lang="it-IT" dirty="0">
                <a:solidFill>
                  <a:schemeClr val="bg1"/>
                </a:solidFill>
              </a:rPr>
              <a:t> «Power </a:t>
            </a:r>
            <a:r>
              <a:rPr lang="it-IT" dirty="0" err="1">
                <a:solidFill>
                  <a:schemeClr val="bg1"/>
                </a:solidFill>
              </a:rPr>
              <a:t>save</a:t>
            </a:r>
            <a:r>
              <a:rPr lang="it-IT" dirty="0">
                <a:solidFill>
                  <a:schemeClr val="bg1"/>
                </a:solidFill>
              </a:rPr>
              <a:t>» mode)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Automatic</a:t>
            </a:r>
            <a:r>
              <a:rPr lang="it-IT" dirty="0">
                <a:solidFill>
                  <a:schemeClr val="bg1"/>
                </a:solidFill>
              </a:rPr>
              <a:t> reset: the </a:t>
            </a:r>
            <a:r>
              <a:rPr lang="it-IT" dirty="0" err="1">
                <a:solidFill>
                  <a:schemeClr val="bg1"/>
                </a:solidFill>
              </a:rPr>
              <a:t>engine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includes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r>
              <a:rPr lang="it-IT" dirty="0">
                <a:solidFill>
                  <a:schemeClr val="bg1"/>
                </a:solidFill>
              </a:rPr>
              <a:t> to «</a:t>
            </a:r>
            <a:r>
              <a:rPr lang="it-IT" dirty="0" err="1">
                <a:solidFill>
                  <a:schemeClr val="bg1"/>
                </a:solidFill>
              </a:rPr>
              <a:t>invert</a:t>
            </a:r>
            <a:r>
              <a:rPr lang="it-IT" dirty="0">
                <a:solidFill>
                  <a:schemeClr val="bg1"/>
                </a:solidFill>
              </a:rPr>
              <a:t>» actions (for </a:t>
            </a:r>
            <a:r>
              <a:rPr lang="it-IT" dirty="0" err="1">
                <a:solidFill>
                  <a:schemeClr val="bg1"/>
                </a:solidFill>
              </a:rPr>
              <a:t>example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turning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heater</a:t>
            </a:r>
            <a:r>
              <a:rPr lang="it-IT" dirty="0">
                <a:solidFill>
                  <a:schemeClr val="bg1"/>
                </a:solidFill>
              </a:rPr>
              <a:t> OFF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the temperature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safe) to </a:t>
            </a:r>
            <a:r>
              <a:rPr lang="it-IT" dirty="0" err="1">
                <a:solidFill>
                  <a:schemeClr val="bg1"/>
                </a:solidFill>
              </a:rPr>
              <a:t>maintain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equilibrium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F18053-6D9B-3F23-25E8-4CBD402BE9DD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RULE EVALUATION LOGIC</a:t>
            </a:r>
          </a:p>
        </p:txBody>
      </p:sp>
    </p:spTree>
    <p:extLst>
      <p:ext uri="{BB962C8B-B14F-4D97-AF65-F5344CB8AC3E}">
        <p14:creationId xmlns:p14="http://schemas.microsoft.com/office/powerpoint/2010/main" val="377064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AADEE9D6-4DB2-8DF5-466F-F2F66E38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C03798B0-847E-B1FD-D052-1D07DDEB29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DC11B31-63F0-5D85-03BA-67ED20E1BD9A}"/>
              </a:ext>
            </a:extLst>
          </p:cNvPr>
          <p:cNvSpPr txBox="1"/>
          <p:nvPr/>
        </p:nvSpPr>
        <p:spPr>
          <a:xfrm>
            <a:off x="365760" y="755904"/>
            <a:ext cx="644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 err="1">
                <a:solidFill>
                  <a:schemeClr val="bg1"/>
                </a:solidFill>
              </a:rPr>
              <a:t>We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chose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SQLite</a:t>
            </a:r>
            <a:r>
              <a:rPr lang="it-IT" dirty="0">
                <a:solidFill>
                  <a:schemeClr val="bg1"/>
                </a:solidFill>
              </a:rPr>
              <a:t> (database.py) for rule </a:t>
            </a:r>
            <a:r>
              <a:rPr lang="it-IT" dirty="0" err="1">
                <a:solidFill>
                  <a:schemeClr val="bg1"/>
                </a:solidFill>
              </a:rPr>
              <a:t>persistence</a:t>
            </a:r>
            <a:r>
              <a:rPr lang="it-IT" dirty="0">
                <a:solidFill>
                  <a:schemeClr val="bg1"/>
                </a:solidFill>
              </a:rPr>
              <a:t>. In a remote </a:t>
            </a:r>
            <a:r>
              <a:rPr lang="it-IT" dirty="0" err="1">
                <a:solidFill>
                  <a:schemeClr val="bg1"/>
                </a:solidFill>
              </a:rPr>
              <a:t>Martian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colony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simplicity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often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means</a:t>
            </a:r>
            <a:r>
              <a:rPr lang="it-IT" dirty="0">
                <a:solidFill>
                  <a:schemeClr val="bg1"/>
                </a:solidFill>
              </a:rPr>
              <a:t> reliability: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Schema Design: stores rule </a:t>
            </a:r>
            <a:r>
              <a:rPr lang="it-IT" dirty="0" err="1">
                <a:solidFill>
                  <a:schemeClr val="bg1"/>
                </a:solidFill>
              </a:rPr>
              <a:t>descriptions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sensor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Ids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operators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threashold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values</a:t>
            </a:r>
            <a:r>
              <a:rPr lang="it-IT" dirty="0">
                <a:solidFill>
                  <a:schemeClr val="bg1"/>
                </a:solidFill>
              </a:rPr>
              <a:t> and target </a:t>
            </a:r>
            <a:r>
              <a:rPr lang="it-IT" dirty="0" err="1">
                <a:solidFill>
                  <a:schemeClr val="bg1"/>
                </a:solidFill>
              </a:rPr>
              <a:t>actuator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states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CRUD </a:t>
            </a:r>
            <a:r>
              <a:rPr lang="it-IT" dirty="0" err="1">
                <a:solidFill>
                  <a:schemeClr val="bg1"/>
                </a:solidFill>
              </a:rPr>
              <a:t>operations</a:t>
            </a:r>
            <a:r>
              <a:rPr lang="it-IT" dirty="0">
                <a:solidFill>
                  <a:schemeClr val="bg1"/>
                </a:solidFill>
              </a:rPr>
              <a:t>: full support for </a:t>
            </a:r>
            <a:r>
              <a:rPr lang="it-IT" dirty="0" err="1">
                <a:solidFill>
                  <a:schemeClr val="bg1"/>
                </a:solidFill>
              </a:rPr>
              <a:t>adding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deleting</a:t>
            </a:r>
            <a:r>
              <a:rPr lang="it-IT" dirty="0">
                <a:solidFill>
                  <a:schemeClr val="bg1"/>
                </a:solidFill>
              </a:rPr>
              <a:t> and </a:t>
            </a:r>
            <a:r>
              <a:rPr lang="it-IT" dirty="0" err="1">
                <a:solidFill>
                  <a:schemeClr val="bg1"/>
                </a:solidFill>
              </a:rPr>
              <a:t>retrieving</a:t>
            </a:r>
            <a:r>
              <a:rPr lang="it-IT" dirty="0">
                <a:solidFill>
                  <a:schemeClr val="bg1"/>
                </a:solidFill>
              </a:rPr>
              <a:t> rules via a </a:t>
            </a:r>
            <a:r>
              <a:rPr lang="it-IT" dirty="0" err="1">
                <a:solidFill>
                  <a:schemeClr val="bg1"/>
                </a:solidFill>
              </a:rPr>
              <a:t>clean</a:t>
            </a:r>
            <a:r>
              <a:rPr lang="it-IT" dirty="0">
                <a:solidFill>
                  <a:schemeClr val="bg1"/>
                </a:solidFill>
              </a:rPr>
              <a:t> Python API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Independence: the database </a:t>
            </a:r>
            <a:r>
              <a:rPr lang="it-IT" dirty="0" err="1">
                <a:solidFill>
                  <a:schemeClr val="bg1"/>
                </a:solidFill>
              </a:rPr>
              <a:t>ensures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that</a:t>
            </a:r>
            <a:r>
              <a:rPr lang="it-IT" dirty="0">
                <a:solidFill>
                  <a:schemeClr val="bg1"/>
                </a:solidFill>
              </a:rPr>
              <a:t> id the container </a:t>
            </a:r>
            <a:r>
              <a:rPr lang="it-IT" dirty="0" err="1">
                <a:solidFill>
                  <a:schemeClr val="bg1"/>
                </a:solidFill>
              </a:rPr>
              <a:t>restarts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all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safety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automation</a:t>
            </a:r>
            <a:r>
              <a:rPr lang="it-IT" dirty="0">
                <a:solidFill>
                  <a:schemeClr val="bg1"/>
                </a:solidFill>
              </a:rPr>
              <a:t> rules are </a:t>
            </a:r>
            <a:r>
              <a:rPr lang="it-IT" dirty="0" err="1">
                <a:solidFill>
                  <a:schemeClr val="bg1"/>
                </a:solidFill>
              </a:rPr>
              <a:t>reloaded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instantly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261875-7A92-09E5-5D11-5AFEA902901E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PERSISTENCE LAYER - SQLITE</a:t>
            </a:r>
          </a:p>
        </p:txBody>
      </p:sp>
    </p:spTree>
    <p:extLst>
      <p:ext uri="{BB962C8B-B14F-4D97-AF65-F5344CB8AC3E}">
        <p14:creationId xmlns:p14="http://schemas.microsoft.com/office/powerpoint/2010/main" val="41249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124F60D6-9795-DEFF-6461-09FCCB05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CE67BAE7-D617-966E-E30F-335E8D5EE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C9DE09-DC3F-57E6-0EE2-A2C68734DC4F}"/>
              </a:ext>
            </a:extLst>
          </p:cNvPr>
          <p:cNvSpPr txBox="1"/>
          <p:nvPr/>
        </p:nvSpPr>
        <p:spPr>
          <a:xfrm>
            <a:off x="365760" y="755904"/>
            <a:ext cx="644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actuators.py </a:t>
            </a:r>
            <a:r>
              <a:rPr lang="it-IT" dirty="0" err="1">
                <a:solidFill>
                  <a:schemeClr val="bg1"/>
                </a:solidFill>
              </a:rPr>
              <a:t>module</a:t>
            </a:r>
            <a:r>
              <a:rPr lang="it-IT" dirty="0">
                <a:solidFill>
                  <a:schemeClr val="bg1"/>
                </a:solidFill>
              </a:rPr>
              <a:t> acts </a:t>
            </a:r>
            <a:r>
              <a:rPr lang="it-IT" dirty="0" err="1">
                <a:solidFill>
                  <a:schemeClr val="bg1"/>
                </a:solidFill>
              </a:rPr>
              <a:t>as</a:t>
            </a:r>
            <a:r>
              <a:rPr lang="it-IT" dirty="0">
                <a:solidFill>
                  <a:schemeClr val="bg1"/>
                </a:solidFill>
              </a:rPr>
              <a:t> the bridge </a:t>
            </a:r>
            <a:r>
              <a:rPr lang="it-IT" dirty="0" err="1">
                <a:solidFill>
                  <a:schemeClr val="bg1"/>
                </a:solidFill>
              </a:rPr>
              <a:t>between</a:t>
            </a:r>
            <a:r>
              <a:rPr lang="it-IT" dirty="0">
                <a:solidFill>
                  <a:schemeClr val="bg1"/>
                </a:solidFill>
              </a:rPr>
              <a:t> the </a:t>
            </a:r>
            <a:r>
              <a:rPr lang="it-IT" dirty="0" err="1">
                <a:solidFill>
                  <a:schemeClr val="bg1"/>
                </a:solidFill>
              </a:rPr>
              <a:t>digital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r>
              <a:rPr lang="it-IT" dirty="0">
                <a:solidFill>
                  <a:schemeClr val="bg1"/>
                </a:solidFill>
              </a:rPr>
              <a:t> and the </a:t>
            </a:r>
            <a:r>
              <a:rPr lang="it-IT" dirty="0" err="1">
                <a:solidFill>
                  <a:schemeClr val="bg1"/>
                </a:solidFill>
              </a:rPr>
              <a:t>physical</a:t>
            </a:r>
            <a:r>
              <a:rPr lang="it-IT" dirty="0">
                <a:solidFill>
                  <a:schemeClr val="bg1"/>
                </a:solidFill>
              </a:rPr>
              <a:t> habitat hardware: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REST </a:t>
            </a:r>
            <a:r>
              <a:rPr lang="it-IT" dirty="0" err="1">
                <a:solidFill>
                  <a:schemeClr val="bg1"/>
                </a:solidFill>
              </a:rPr>
              <a:t>interface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sends</a:t>
            </a:r>
            <a:r>
              <a:rPr lang="it-IT" dirty="0">
                <a:solidFill>
                  <a:schemeClr val="bg1"/>
                </a:solidFill>
              </a:rPr>
              <a:t> POST </a:t>
            </a:r>
            <a:r>
              <a:rPr lang="it-IT" dirty="0" err="1">
                <a:solidFill>
                  <a:schemeClr val="bg1"/>
                </a:solidFill>
              </a:rPr>
              <a:t>requests</a:t>
            </a:r>
            <a:r>
              <a:rPr lang="it-IT" dirty="0">
                <a:solidFill>
                  <a:schemeClr val="bg1"/>
                </a:solidFill>
              </a:rPr>
              <a:t> to the Mars Simulator to </a:t>
            </a:r>
            <a:r>
              <a:rPr lang="it-IT" dirty="0" err="1">
                <a:solidFill>
                  <a:schemeClr val="bg1"/>
                </a:solidFill>
              </a:rPr>
              <a:t>toggle</a:t>
            </a:r>
            <a:r>
              <a:rPr lang="it-IT" dirty="0">
                <a:solidFill>
                  <a:schemeClr val="bg1"/>
                </a:solidFill>
              </a:rPr>
              <a:t> hardware like </a:t>
            </a:r>
            <a:r>
              <a:rPr lang="it-IT" dirty="0" err="1">
                <a:solidFill>
                  <a:schemeClr val="bg1"/>
                </a:solidFill>
              </a:rPr>
              <a:t>cooling_fan</a:t>
            </a:r>
            <a:r>
              <a:rPr lang="it-IT" dirty="0">
                <a:solidFill>
                  <a:schemeClr val="bg1"/>
                </a:solidFill>
              </a:rPr>
              <a:t> or </a:t>
            </a:r>
            <a:r>
              <a:rPr lang="it-IT" dirty="0" err="1">
                <a:solidFill>
                  <a:schemeClr val="bg1"/>
                </a:solidFill>
              </a:rPr>
              <a:t>habitat_heater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chemeClr val="bg1"/>
                </a:solidFill>
              </a:rPr>
              <a:t>Error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handling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implements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timeouts</a:t>
            </a:r>
            <a:r>
              <a:rPr lang="it-IT" dirty="0">
                <a:solidFill>
                  <a:schemeClr val="bg1"/>
                </a:solidFill>
              </a:rPr>
              <a:t> and status code checks.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a hardware </a:t>
            </a:r>
            <a:r>
              <a:rPr lang="it-IT" dirty="0" err="1">
                <a:solidFill>
                  <a:schemeClr val="bg1"/>
                </a:solidFill>
              </a:rPr>
              <a:t>command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fails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it’s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logged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but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doesn’t</a:t>
            </a:r>
            <a:r>
              <a:rPr lang="it-IT" dirty="0">
                <a:solidFill>
                  <a:schemeClr val="bg1"/>
                </a:solidFill>
              </a:rPr>
              <a:t> crash the </a:t>
            </a:r>
            <a:r>
              <a:rPr lang="it-IT" dirty="0" err="1">
                <a:solidFill>
                  <a:schemeClr val="bg1"/>
                </a:solidFill>
              </a:rPr>
              <a:t>engine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State </a:t>
            </a:r>
            <a:r>
              <a:rPr lang="it-IT" dirty="0" err="1">
                <a:solidFill>
                  <a:schemeClr val="bg1"/>
                </a:solidFill>
              </a:rPr>
              <a:t>sync</a:t>
            </a:r>
            <a:r>
              <a:rPr lang="it-IT" dirty="0">
                <a:solidFill>
                  <a:schemeClr val="bg1"/>
                </a:solidFill>
              </a:rPr>
              <a:t>: </a:t>
            </a:r>
            <a:r>
              <a:rPr lang="it-IT" dirty="0" err="1">
                <a:solidFill>
                  <a:schemeClr val="bg1"/>
                </a:solidFill>
              </a:rPr>
              <a:t>provides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get_actuators_state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function</a:t>
            </a:r>
            <a:r>
              <a:rPr lang="it-IT" dirty="0">
                <a:solidFill>
                  <a:schemeClr val="bg1"/>
                </a:solidFill>
              </a:rPr>
              <a:t> so the </a:t>
            </a:r>
            <a:r>
              <a:rPr lang="it-IT" dirty="0" err="1">
                <a:solidFill>
                  <a:schemeClr val="bg1"/>
                </a:solidFill>
              </a:rPr>
              <a:t>Frontend</a:t>
            </a:r>
            <a:r>
              <a:rPr lang="it-IT" dirty="0">
                <a:solidFill>
                  <a:schemeClr val="bg1"/>
                </a:solidFill>
              </a:rPr>
              <a:t> can </a:t>
            </a:r>
            <a:r>
              <a:rPr lang="it-IT" dirty="0" err="1">
                <a:solidFill>
                  <a:schemeClr val="bg1"/>
                </a:solidFill>
              </a:rPr>
              <a:t>verify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if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command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was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actually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executed</a:t>
            </a:r>
            <a:r>
              <a:rPr lang="it-IT" dirty="0">
                <a:solidFill>
                  <a:schemeClr val="bg1"/>
                </a:solidFill>
              </a:rPr>
              <a:t> by the hardware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825191-4033-0516-D755-E65BDD935FC7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ACTUATOR CONTROL SYBSYSTEM</a:t>
            </a:r>
          </a:p>
        </p:txBody>
      </p:sp>
    </p:spTree>
    <p:extLst>
      <p:ext uri="{BB962C8B-B14F-4D97-AF65-F5344CB8AC3E}">
        <p14:creationId xmlns:p14="http://schemas.microsoft.com/office/powerpoint/2010/main" val="1626406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DFE423DE-D3D3-AC30-6439-5322CC5A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8859C275-1947-7D6A-8CC4-191EF547C9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B4C84F-0373-AF6E-3EA9-C3B088F33D14}"/>
              </a:ext>
            </a:extLst>
          </p:cNvPr>
          <p:cNvSpPr txBox="1"/>
          <p:nvPr/>
        </p:nvSpPr>
        <p:spPr>
          <a:xfrm>
            <a:off x="365760" y="755904"/>
            <a:ext cx="64495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satisfy the requirement of simultaneous monitoring and management, the engine runs two parallel loops: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Thread A (Flask API):</a:t>
            </a:r>
            <a:r>
              <a:rPr lang="en-US" dirty="0">
                <a:solidFill>
                  <a:schemeClr val="bg1"/>
                </a:solidFill>
              </a:rPr>
              <a:t> Handles incoming requests from the Dashboard to create or delete rules.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Thread B (Kafka Consumer):</a:t>
            </a:r>
            <a:r>
              <a:rPr lang="en-US" dirty="0">
                <a:solidFill>
                  <a:schemeClr val="bg1"/>
                </a:solidFill>
              </a:rPr>
              <a:t> Continuously listens for sensor data.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Why?</a:t>
            </a:r>
            <a:r>
              <a:rPr lang="en-US" dirty="0">
                <a:solidFill>
                  <a:schemeClr val="bg1"/>
                </a:solidFill>
              </a:rPr>
              <a:t> This prevents a "flooding" of sensor data from making the user interface laggy or unresponsive.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A9D413-D7A3-8BB7-C560-6984D131DE98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MULTI-THREADING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64836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CBD7027D-2971-0989-6A56-B7B69356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8A10A7C3-B27C-7C88-C0DD-91CE4AC6FF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AACE9C-CE16-0998-BB31-8968DF231497}"/>
              </a:ext>
            </a:extLst>
          </p:cNvPr>
          <p:cNvSpPr txBox="1"/>
          <p:nvPr/>
        </p:nvSpPr>
        <p:spPr>
          <a:xfrm>
            <a:off x="365760" y="755904"/>
            <a:ext cx="6449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dashboard is built using </a:t>
            </a:r>
            <a:r>
              <a:rPr lang="en-US" b="1" dirty="0">
                <a:solidFill>
                  <a:schemeClr val="bg1"/>
                </a:solidFill>
              </a:rPr>
              <a:t>React 18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Vite</a:t>
            </a:r>
            <a:r>
              <a:rPr lang="en-US" dirty="0">
                <a:solidFill>
                  <a:schemeClr val="bg1"/>
                </a:solidFill>
              </a:rPr>
              <a:t>, providing a lightning-fast, reactive interface for colony oversight.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Component-Based Design:</a:t>
            </a:r>
            <a:r>
              <a:rPr lang="en-US" dirty="0">
                <a:solidFill>
                  <a:schemeClr val="bg1"/>
                </a:solidFill>
              </a:rPr>
              <a:t> The UI is split into specialized modules (</a:t>
            </a:r>
            <a:r>
              <a:rPr lang="en-US" dirty="0" err="1">
                <a:solidFill>
                  <a:schemeClr val="bg1"/>
                </a:solidFill>
              </a:rPr>
              <a:t>SensorGauge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TelemetryChart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RuleManager</a:t>
            </a:r>
            <a:r>
              <a:rPr lang="en-US" dirty="0">
                <a:solidFill>
                  <a:schemeClr val="bg1"/>
                </a:solidFill>
              </a:rPr>
              <a:t>) for better maintainability.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Real-time Synchronization:</a:t>
            </a:r>
            <a:r>
              <a:rPr lang="en-US" dirty="0">
                <a:solidFill>
                  <a:schemeClr val="bg1"/>
                </a:solidFill>
              </a:rPr>
              <a:t> Uses </a:t>
            </a:r>
            <a:r>
              <a:rPr lang="en-US" dirty="0" err="1">
                <a:solidFill>
                  <a:schemeClr val="bg1"/>
                </a:solidFill>
              </a:rPr>
              <a:t>useEffect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 err="1">
                <a:solidFill>
                  <a:schemeClr val="bg1"/>
                </a:solidFill>
              </a:rPr>
              <a:t>useCallback</a:t>
            </a:r>
            <a:r>
              <a:rPr lang="en-US" dirty="0">
                <a:solidFill>
                  <a:schemeClr val="bg1"/>
                </a:solidFill>
              </a:rPr>
              <a:t> hooks to manage data flow from the backend API.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State Management:</a:t>
            </a:r>
            <a:r>
              <a:rPr lang="en-US" dirty="0">
                <a:solidFill>
                  <a:schemeClr val="bg1"/>
                </a:solidFill>
              </a:rPr>
              <a:t> React </a:t>
            </a:r>
            <a:r>
              <a:rPr lang="en-US" dirty="0" err="1">
                <a:solidFill>
                  <a:schemeClr val="bg1"/>
                </a:solidFill>
              </a:rPr>
              <a:t>useState</a:t>
            </a:r>
            <a:r>
              <a:rPr lang="en-US" dirty="0">
                <a:solidFill>
                  <a:schemeClr val="bg1"/>
                </a:solidFill>
              </a:rPr>
              <a:t> tracks the live status of actuators and sensor readings, ensuring the UI always reflects the "Ground Truth" of the habitat.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E56798-E5EA-C74B-1363-9B0A6060FE73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FRONTEND ARCHITECTURE – REACT &amp; VITE</a:t>
            </a:r>
          </a:p>
        </p:txBody>
      </p:sp>
    </p:spTree>
    <p:extLst>
      <p:ext uri="{BB962C8B-B14F-4D97-AF65-F5344CB8AC3E}">
        <p14:creationId xmlns:p14="http://schemas.microsoft.com/office/powerpoint/2010/main" val="4276512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E2C6C4A5-AFF9-BED0-BE74-E639213F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6990FCEC-8964-5FFB-7C4C-DA7B6CA868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B6A6AE8-1F10-E27E-C198-B8D47AE5AE09}"/>
              </a:ext>
            </a:extLst>
          </p:cNvPr>
          <p:cNvSpPr txBox="1"/>
          <p:nvPr/>
        </p:nvSpPr>
        <p:spPr>
          <a:xfrm>
            <a:off x="365760" y="755904"/>
            <a:ext cx="644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implemented custom components to ensure operators can make split-second decisions: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SensorGauge.jsx</a:t>
            </a:r>
            <a:r>
              <a:rPr lang="en-US" dirty="0">
                <a:solidFill>
                  <a:schemeClr val="bg1"/>
                </a:solidFill>
              </a:rPr>
              <a:t>: Uses dynamic color scaling. If a value exceeds 80% of its safety range, the gauge turns Red automatically (US08).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TelemetryChart.jsx</a:t>
            </a:r>
            <a:r>
              <a:rPr lang="en-US" dirty="0">
                <a:solidFill>
                  <a:schemeClr val="bg1"/>
                </a:solidFill>
              </a:rPr>
              <a:t>: Provides historical context for high-frequency data (like radiation), allowing users to spot trends before they become emergencies.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"LIVE" Indicator: A visual heart-beat confirming that the WebSocket stream is active and the data is fresh.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4917D97-60CB-A174-E169-16138BD67E15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VISUALIZING SURVIVAL DATA</a:t>
            </a:r>
          </a:p>
        </p:txBody>
      </p:sp>
    </p:spTree>
    <p:extLst>
      <p:ext uri="{BB962C8B-B14F-4D97-AF65-F5344CB8AC3E}">
        <p14:creationId xmlns:p14="http://schemas.microsoft.com/office/powerpoint/2010/main" val="1287193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465815B3-4527-56A9-3887-A8D84105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F1B55D6D-CD6B-40AA-CF3E-460BB4E0DD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7AB196E-2F5F-76FD-F2E6-0C2314B842DA}"/>
              </a:ext>
            </a:extLst>
          </p:cNvPr>
          <p:cNvSpPr txBox="1"/>
          <p:nvPr/>
        </p:nvSpPr>
        <p:spPr>
          <a:xfrm>
            <a:off x="365760" y="755904"/>
            <a:ext cx="6449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interface allows for both manual override and automated management: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ActuatorControl.jsx</a:t>
            </a:r>
            <a:r>
              <a:rPr lang="en-US" dirty="0">
                <a:solidFill>
                  <a:schemeClr val="bg1"/>
                </a:solidFill>
              </a:rPr>
              <a:t>: Large, high-contrast buttons for toggling Fans, Heaters, and Ventilation. It shows a ● ACTIVE status only when the hardware confirms the state.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RuleManager.jsx</a:t>
            </a:r>
            <a:r>
              <a:rPr lang="en-US" dirty="0">
                <a:solidFill>
                  <a:schemeClr val="bg1"/>
                </a:solidFill>
              </a:rPr>
              <a:t>: A dedicated panel to create "IF-THEN" logic. It translates user input into the structured JSON required by the Python Rules Engine.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NotificationBar.jsx</a:t>
            </a:r>
            <a:r>
              <a:rPr lang="en-US" dirty="0">
                <a:solidFill>
                  <a:schemeClr val="bg1"/>
                </a:solidFill>
              </a:rPr>
              <a:t>: The mission log. It categorizes events (Info, Success, Warning) and scrolls automatically to the latest system action.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FD8099-5764-979B-DBE7-16313547DF46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COMMAND AND CONTROL COMPONENTS</a:t>
            </a:r>
          </a:p>
        </p:txBody>
      </p:sp>
    </p:spTree>
    <p:extLst>
      <p:ext uri="{BB962C8B-B14F-4D97-AF65-F5344CB8AC3E}">
        <p14:creationId xmlns:p14="http://schemas.microsoft.com/office/powerpoint/2010/main" val="1343758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19A2032D-A180-FB31-1AC6-4AA196B9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19A1B42C-F898-399C-CEAA-4D22B5B5F1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FB0C034-029E-5635-226D-F6455BAE1786}"/>
              </a:ext>
            </a:extLst>
          </p:cNvPr>
          <p:cNvSpPr txBox="1"/>
          <p:nvPr/>
        </p:nvSpPr>
        <p:spPr>
          <a:xfrm>
            <a:off x="365760" y="755904"/>
            <a:ext cx="6449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 ensure a robust and accessible interface, we utilized a professional-grade component library (</a:t>
            </a:r>
            <a:r>
              <a:rPr lang="en-US" b="1" dirty="0" err="1">
                <a:solidFill>
                  <a:schemeClr val="bg1"/>
                </a:solidFill>
              </a:rPr>
              <a:t>Shadcn</a:t>
            </a:r>
            <a:r>
              <a:rPr lang="en-US" b="1" dirty="0">
                <a:solidFill>
                  <a:schemeClr val="bg1"/>
                </a:solidFill>
              </a:rPr>
              <a:t>/UI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Radix UI</a:t>
            </a:r>
            <a:r>
              <a:rPr lang="en-US" dirty="0">
                <a:solidFill>
                  <a:schemeClr val="bg1"/>
                </a:solidFill>
              </a:rPr>
              <a:t>):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Atomic Design: Used modular files like </a:t>
            </a:r>
            <a:r>
              <a:rPr lang="en-US" dirty="0" err="1">
                <a:solidFill>
                  <a:schemeClr val="bg1"/>
                </a:solidFill>
              </a:rPr>
              <a:t>button.tsx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card.tsx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dirty="0" err="1">
                <a:solidFill>
                  <a:schemeClr val="bg1"/>
                </a:solidFill>
              </a:rPr>
              <a:t>alert.tsx</a:t>
            </a:r>
            <a:r>
              <a:rPr lang="en-US" dirty="0">
                <a:solidFill>
                  <a:schemeClr val="bg1"/>
                </a:solidFill>
              </a:rPr>
              <a:t> to keep the UI consistent.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Accessibility: Components like alert-</a:t>
            </a:r>
            <a:r>
              <a:rPr lang="en-US" dirty="0" err="1">
                <a:solidFill>
                  <a:schemeClr val="bg1"/>
                </a:solidFill>
              </a:rPr>
              <a:t>dialog.tsx</a:t>
            </a:r>
            <a:r>
              <a:rPr lang="en-US" dirty="0">
                <a:solidFill>
                  <a:schemeClr val="bg1"/>
                </a:solidFill>
              </a:rPr>
              <a:t> ensure that critical actions (like deleting a safety rule) require explicit confirmation.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Responsiveness: The layout uses Tailwind CSS to adapt the "Mars Command" view to different screen sizes (from tablets to wall-mounted monitors).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A006435-D52D-D4F6-27A0-1AD805118955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PROFESSIONAL UI FOUNDATION</a:t>
            </a:r>
          </a:p>
        </p:txBody>
      </p:sp>
    </p:spTree>
    <p:extLst>
      <p:ext uri="{BB962C8B-B14F-4D97-AF65-F5344CB8AC3E}">
        <p14:creationId xmlns:p14="http://schemas.microsoft.com/office/powerpoint/2010/main" val="1024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85C49BDF-0633-E0BC-D8D1-3CF22E40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C43014F2-9330-E4F5-059E-183AB76182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4E0EDC4-DEC7-B0F9-F963-3824A8C0D9A3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THE FINAL RESULT – USER STORY VALIDATION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203BA8F-AC60-6111-CE4A-610BF3F084AA}"/>
              </a:ext>
            </a:extLst>
          </p:cNvPr>
          <p:cNvSpPr txBox="1"/>
          <p:nvPr/>
        </p:nvSpPr>
        <p:spPr>
          <a:xfrm>
            <a:off x="914400" y="1328928"/>
            <a:ext cx="46085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US07 (Live </a:t>
            </a:r>
            <a:r>
              <a:rPr lang="it-IT" dirty="0" err="1">
                <a:solidFill>
                  <a:schemeClr val="bg1"/>
                </a:solidFill>
              </a:rPr>
              <a:t>indicators</a:t>
            </a:r>
            <a:r>
              <a:rPr lang="it-IT" dirty="0">
                <a:solidFill>
                  <a:schemeClr val="bg1"/>
                </a:solidFill>
              </a:rPr>
              <a:t>): </a:t>
            </a:r>
            <a:r>
              <a:rPr lang="it-IT" dirty="0" err="1">
                <a:solidFill>
                  <a:schemeClr val="bg1"/>
                </a:solidFill>
              </a:rPr>
              <a:t>achieved</a:t>
            </a:r>
            <a:r>
              <a:rPr lang="it-IT" dirty="0">
                <a:solidFill>
                  <a:schemeClr val="bg1"/>
                </a:solidFill>
              </a:rPr>
              <a:t> via real-time </a:t>
            </a:r>
            <a:r>
              <a:rPr lang="it-IT" dirty="0" err="1">
                <a:solidFill>
                  <a:schemeClr val="bg1"/>
                </a:solidFill>
              </a:rPr>
              <a:t>react</a:t>
            </a:r>
            <a:r>
              <a:rPr lang="it-IT" dirty="0">
                <a:solidFill>
                  <a:schemeClr val="bg1"/>
                </a:solidFill>
              </a:rPr>
              <a:t> state updates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US12 (</a:t>
            </a:r>
            <a:r>
              <a:rPr lang="it-IT" dirty="0" err="1">
                <a:solidFill>
                  <a:schemeClr val="bg1"/>
                </a:solidFill>
              </a:rPr>
              <a:t>manual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toggle</a:t>
            </a:r>
            <a:r>
              <a:rPr lang="it-IT" dirty="0">
                <a:solidFill>
                  <a:schemeClr val="bg1"/>
                </a:solidFill>
              </a:rPr>
              <a:t>): </a:t>
            </a:r>
            <a:r>
              <a:rPr lang="it-IT" dirty="0" err="1">
                <a:solidFill>
                  <a:schemeClr val="bg1"/>
                </a:solidFill>
              </a:rPr>
              <a:t>achieved</a:t>
            </a:r>
            <a:r>
              <a:rPr lang="it-IT" dirty="0">
                <a:solidFill>
                  <a:schemeClr val="bg1"/>
                </a:solidFill>
              </a:rPr>
              <a:t> via the </a:t>
            </a:r>
            <a:r>
              <a:rPr lang="it-IT" dirty="0" err="1">
                <a:solidFill>
                  <a:schemeClr val="bg1"/>
                </a:solidFill>
              </a:rPr>
              <a:t>actuator</a:t>
            </a:r>
            <a:r>
              <a:rPr lang="it-IT" dirty="0">
                <a:solidFill>
                  <a:schemeClr val="bg1"/>
                </a:solidFill>
              </a:rPr>
              <a:t> control panel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US19/US20 (</a:t>
            </a:r>
            <a:r>
              <a:rPr lang="it-IT" dirty="0" err="1">
                <a:solidFill>
                  <a:schemeClr val="bg1"/>
                </a:solidFill>
              </a:rPr>
              <a:t>timestamped</a:t>
            </a:r>
            <a:r>
              <a:rPr lang="it-IT" dirty="0">
                <a:solidFill>
                  <a:schemeClr val="bg1"/>
                </a:solidFill>
              </a:rPr>
              <a:t> logs): </a:t>
            </a:r>
            <a:r>
              <a:rPr lang="it-IT" dirty="0" err="1">
                <a:solidFill>
                  <a:schemeClr val="bg1"/>
                </a:solidFill>
              </a:rPr>
              <a:t>achieved</a:t>
            </a:r>
            <a:r>
              <a:rPr lang="it-IT" dirty="0">
                <a:solidFill>
                  <a:schemeClr val="bg1"/>
                </a:solidFill>
              </a:rPr>
              <a:t> via the Notification Bar </a:t>
            </a:r>
            <a:r>
              <a:rPr lang="it-IT" dirty="0" err="1">
                <a:solidFill>
                  <a:schemeClr val="bg1"/>
                </a:solidFill>
              </a:rPr>
              <a:t>Logic</a:t>
            </a:r>
            <a:endParaRPr lang="it-IT" dirty="0">
              <a:solidFill>
                <a:schemeClr val="bg1"/>
              </a:solidFill>
            </a:endParaRP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bg1"/>
                </a:solidFill>
              </a:rPr>
              <a:t>US01-04 (rule management): </a:t>
            </a:r>
            <a:r>
              <a:rPr lang="it-IT" dirty="0" err="1">
                <a:solidFill>
                  <a:schemeClr val="bg1"/>
                </a:solidFill>
              </a:rPr>
              <a:t>fully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integrated</a:t>
            </a:r>
            <a:r>
              <a:rPr lang="it-IT" dirty="0">
                <a:solidFill>
                  <a:schemeClr val="bg1"/>
                </a:solidFill>
              </a:rPr>
              <a:t> via the Rule Manager and </a:t>
            </a:r>
            <a:r>
              <a:rPr lang="it-IT" dirty="0" err="1">
                <a:solidFill>
                  <a:schemeClr val="bg1"/>
                </a:solidFill>
              </a:rPr>
              <a:t>Backend</a:t>
            </a:r>
            <a:r>
              <a:rPr lang="it-IT" dirty="0">
                <a:solidFill>
                  <a:schemeClr val="bg1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4278151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68">
          <a:extLst>
            <a:ext uri="{FF2B5EF4-FFF2-40B4-BE49-F238E27FC236}">
              <a16:creationId xmlns:a16="http://schemas.microsoft.com/office/drawing/2014/main" id="{0E268B97-0CCD-C61F-EE9A-60FED069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812E1B51-3DBD-025A-3CA0-11E9C29F6A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23</a:t>
            </a:fld>
            <a:endParaRPr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508EB61-4FDF-38B8-4096-74AD89F423E7}"/>
              </a:ext>
            </a:extLst>
          </p:cNvPr>
          <p:cNvSpPr txBox="1"/>
          <p:nvPr/>
        </p:nvSpPr>
        <p:spPr>
          <a:xfrm>
            <a:off x="237744" y="115824"/>
            <a:ext cx="4931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E9EDEE"/>
              </a:buClr>
            </a:pPr>
            <a:r>
              <a:rPr lang="it-IT" dirty="0">
                <a:solidFill>
                  <a:schemeClr val="bg1"/>
                </a:solidFill>
              </a:rPr>
              <a:t>DEPLOYMENT AND CONTAINERIZATION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E253DC-A322-85D5-434F-1C4C0AC717F5}"/>
              </a:ext>
            </a:extLst>
          </p:cNvPr>
          <p:cNvSpPr txBox="1"/>
          <p:nvPr/>
        </p:nvSpPr>
        <p:spPr>
          <a:xfrm>
            <a:off x="237744" y="524256"/>
            <a:ext cx="84795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Martian system must be portable and easy to redeploy. We used Docker and Docker Compose to manage the entire ecosystem.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Microservices Isolation: Each component (Rest Ingestion, WS Ingestion, Rules Engine, Kafka, UI) runs in its own isolated container.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Orchestration: The docker-</a:t>
            </a:r>
            <a:r>
              <a:rPr lang="en-US" dirty="0" err="1">
                <a:solidFill>
                  <a:schemeClr val="bg1"/>
                </a:solidFill>
              </a:rPr>
              <a:t>compose.yml</a:t>
            </a:r>
            <a:r>
              <a:rPr lang="en-US" dirty="0">
                <a:solidFill>
                  <a:schemeClr val="bg1"/>
                </a:solidFill>
              </a:rPr>
              <a:t> file manages network aliases (e.g., http://simulator:8080), ensuring services can find each other automatically.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Scalability: We can restart or update the Rules Engine without stopping the data ingestion from the sensors.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Environment Parity: "It works on my machine" means "It works on Mars.“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have successfully built a fragmented automation stack into a unified, reactive safety system.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Unified Data: Heterogeneous sensors are now one single "Martian Language."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Reliability: Kafka ensures no life-critical data is lost during spikes.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Automation: The Rules Engine provides the 24/7 "Autopilot" the habitat needs.</a:t>
            </a:r>
          </a:p>
          <a:p>
            <a:pPr marL="285750" indent="-285750">
              <a:buClr>
                <a:srgbClr val="E9EDEE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Modern UX: A dashboard designed for rapid response and situational awareness.</a:t>
            </a:r>
          </a:p>
          <a:p>
            <a:pPr>
              <a:buClr>
                <a:srgbClr val="E9EDEE"/>
              </a:buClr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561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51442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97" y="957404"/>
            <a:ext cx="4177813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465540"/>
            <a:ext cx="5492423" cy="41948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Google Shape;135;p13"/>
          <p:cNvSpPr txBox="1">
            <a:spLocks noGrp="1"/>
          </p:cNvSpPr>
          <p:nvPr>
            <p:ph type="ctrTitle"/>
          </p:nvPr>
        </p:nvSpPr>
        <p:spPr>
          <a:xfrm>
            <a:off x="3534918" y="829013"/>
            <a:ext cx="4765475" cy="2267986"/>
          </a:xfrm>
          <a:prstGeom prst="rect">
            <a:avLst/>
          </a:prstGeom>
        </p:spPr>
        <p:txBody>
          <a:bodyPr spcFirstLastPara="1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THANKS FOR THE ATTENTION!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3160752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8" name="Rectangle 147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1"/>
            <a:ext cx="123444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E75BEB3-B209-3B31-3CC1-938D5173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7999" y="4853028"/>
            <a:ext cx="730251" cy="205740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it-IT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24</a:t>
            </a:fld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e">
  <a:themeElements>
    <a:clrScheme name="Rosso arancion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Integrale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e">
  <a:themeElements>
    <a:clrScheme name="Arancione ross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Integrale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1121</TotalTime>
  <Words>2318</Words>
  <Application>Microsoft Office PowerPoint</Application>
  <PresentationFormat>Presentazione su schermo (16:9)</PresentationFormat>
  <Paragraphs>174</Paragraphs>
  <Slides>24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24</vt:i4>
      </vt:variant>
    </vt:vector>
  </HeadingPairs>
  <TitlesOfParts>
    <vt:vector size="31" baseType="lpstr">
      <vt:lpstr>Arial</vt:lpstr>
      <vt:lpstr>Wingdings 3</vt:lpstr>
      <vt:lpstr>Tw Cen MT</vt:lpstr>
      <vt:lpstr>Catamaran</vt:lpstr>
      <vt:lpstr>Tw Cen MT Condensed</vt:lpstr>
      <vt:lpstr>Integrale</vt:lpstr>
      <vt:lpstr>1_Integrale</vt:lpstr>
      <vt:lpstr>Laboratory of advanced programming: MARS AUTOMATION PLATFORM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THANKS FOR THE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beatrice gambetti</cp:lastModifiedBy>
  <cp:revision>291</cp:revision>
  <dcterms:modified xsi:type="dcterms:W3CDTF">2026-03-10T16:32:21Z</dcterms:modified>
</cp:coreProperties>
</file>